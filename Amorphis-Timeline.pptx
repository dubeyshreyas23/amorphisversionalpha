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2286000"/>
            <a:ext cx="7315200" cy="7315200"/>
          </a:xfrm>
          <a:prstGeom prst="ellipse">
            <a:avLst/>
          </a:prstGeom>
          <a:solidFill>
            <a:srgbClr val="141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688775" y="365760"/>
            <a:ext cx="164592" cy="164592"/>
          </a:xfrm>
          <a:prstGeom prst="ellipse">
            <a:avLst/>
          </a:prstGeom>
          <a:solidFill>
            <a:srgbClr val="7A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 spc="300">
                <a:solidFill>
                  <a:srgbClr val="ECF0F4"/>
                </a:solidFill>
                <a:latin typeface="Calibri"/>
              </a:rPr>
              <a:t>OUR ROAD TO ORBIT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1064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spc="400">
                <a:solidFill>
                  <a:srgbClr val="7AE5FF"/>
                </a:solidFill>
                <a:latin typeface="Consolas"/>
              </a:rPr>
              <a:t>PART 1 / 2   ·   AUG 2021 → SEPT 2023   ·   AMORPHIS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161288"/>
            <a:ext cx="1645920" cy="0"/>
          </a:xfrm>
          <a:prstGeom prst="line">
            <a:avLst/>
          </a:prstGeom>
          <a:ln w="1905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912967" y="1371600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01</a:t>
            </a:r>
          </a:p>
        </p:txBody>
      </p:sp>
      <p:sp>
        <p:nvSpPr>
          <p:cNvPr id="279" name="Oval 278"/>
          <p:cNvSpPr/>
          <p:nvPr/>
        </p:nvSpPr>
        <p:spPr>
          <a:xfrm>
            <a:off x="6723623" y="2350007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02</a:t>
            </a:r>
          </a:p>
        </p:txBody>
      </p:sp>
      <p:sp>
        <p:nvSpPr>
          <p:cNvPr id="280" name="Oval 279"/>
          <p:cNvSpPr/>
          <p:nvPr/>
        </p:nvSpPr>
        <p:spPr>
          <a:xfrm>
            <a:off x="6781710" y="3328415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03</a:t>
            </a:r>
          </a:p>
        </p:txBody>
      </p:sp>
      <p:sp>
        <p:nvSpPr>
          <p:cNvPr id="281" name="Oval 280"/>
          <p:cNvSpPr/>
          <p:nvPr/>
        </p:nvSpPr>
        <p:spPr>
          <a:xfrm>
            <a:off x="6033302" y="4306823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04</a:t>
            </a:r>
          </a:p>
        </p:txBody>
      </p:sp>
      <p:sp>
        <p:nvSpPr>
          <p:cNvPr id="282" name="Oval 281"/>
          <p:cNvSpPr/>
          <p:nvPr/>
        </p:nvSpPr>
        <p:spPr>
          <a:xfrm>
            <a:off x="5173182" y="5285231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05</a:t>
            </a:r>
          </a:p>
        </p:txBody>
      </p:sp>
      <p:sp>
        <p:nvSpPr>
          <p:cNvPr id="283" name="Oval 282"/>
          <p:cNvSpPr/>
          <p:nvPr/>
        </p:nvSpPr>
        <p:spPr>
          <a:xfrm>
            <a:off x="4999839" y="6263640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06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3581247" y="1170432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Aug 2021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203807" y="1536192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Global evaluation of SMA HDRM for Dhruva Space's satellite deployer system.</a:t>
            </a:r>
          </a:p>
        </p:txBody>
      </p:sp>
      <p:sp>
        <p:nvSpPr>
          <p:cNvPr id="286" name="Rounded Rectangle 285"/>
          <p:cNvSpPr/>
          <p:nvPr/>
        </p:nvSpPr>
        <p:spPr>
          <a:xfrm>
            <a:off x="4391903" y="2148839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Aug 2021 – Mar 2022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014463" y="2514599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Conversations with vendors. Quotes ranged $5,000 – $10,000 per system.</a:t>
            </a:r>
          </a:p>
        </p:txBody>
      </p:sp>
      <p:sp>
        <p:nvSpPr>
          <p:cNvPr id="288" name="Rounded Rectangle 287"/>
          <p:cNvSpPr/>
          <p:nvPr/>
        </p:nvSpPr>
        <p:spPr>
          <a:xfrm>
            <a:off x="4449990" y="3127248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Apr 2022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072550" y="3493008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Decided to build our own Dhruva Space burn-wire mechanism for satellite separation. Successfully passed the ISRO review board.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3701582" y="4105655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Jan 2023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324142" y="4471416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Co-wrote proposal for ISRO Human Spaceflight Programme (HSFC). EoI on using SMA actuators for module locking.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5950422" y="5084064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Feb 2023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50422" y="5449824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200">
                <a:solidFill>
                  <a:srgbClr val="ECF0F4"/>
                </a:solidFill>
                <a:latin typeface="Calibri"/>
              </a:rPr>
              <a:t>Procured an engineering model of an SMA actuator from a European startup.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5777079" y="6062472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Sept 2023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777079" y="6428232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200">
                <a:solidFill>
                  <a:srgbClr val="ECF0F4"/>
                </a:solidFill>
                <a:latin typeface="Calibri"/>
              </a:rPr>
              <a:t>Actuator delivery — vibration-qualified, thermo-vac tested European SMA actuator.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48640" y="6583680"/>
            <a:ext cx="8229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spc="500">
                <a:solidFill>
                  <a:srgbClr val="6A7280"/>
                </a:solidFill>
                <a:latin typeface="Consolas"/>
              </a:rPr>
              <a:t>AMORPHIS · INDIA'S FIRST SPACE-GRADE SMA ACTUATOR COMPANY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8686800" y="6583680"/>
            <a:ext cx="3200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spc="500">
                <a:solidFill>
                  <a:srgbClr val="98A0AA"/>
                </a:solidFill>
                <a:latin typeface="Consolas"/>
              </a:rPr>
              <a:t>PART 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05295" y="-2286000"/>
            <a:ext cx="7315200" cy="7315200"/>
          </a:xfrm>
          <a:prstGeom prst="ellipse">
            <a:avLst/>
          </a:prstGeom>
          <a:solidFill>
            <a:srgbClr val="141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688775" y="365760"/>
            <a:ext cx="164592" cy="164592"/>
          </a:xfrm>
          <a:prstGeom prst="ellipse">
            <a:avLst/>
          </a:prstGeom>
          <a:solidFill>
            <a:srgbClr val="7A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00" b="1" spc="300">
                <a:solidFill>
                  <a:srgbClr val="ECF0F4"/>
                </a:solidFill>
                <a:latin typeface="Calibri"/>
              </a:rPr>
              <a:t>OUR ROAD TO ORBIT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10642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spc="400">
                <a:solidFill>
                  <a:srgbClr val="7AE5FF"/>
                </a:solidFill>
                <a:latin typeface="Consolas"/>
              </a:rPr>
              <a:t>PART 2 / 2   ·   JAN 2024 → MAY 2027   ·   AMORPHIS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161288"/>
            <a:ext cx="1645920" cy="0"/>
          </a:xfrm>
          <a:prstGeom prst="line">
            <a:avLst/>
          </a:prstGeom>
          <a:ln w="1905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152400">
            <a:solidFill>
              <a:srgbClr val="7AE5FF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76200">
            <a:solidFill>
              <a:srgbClr val="7AE5FF">
                <a:alpha val="2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6095847" y="1554480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6140884" y="1608836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6185920" y="1663192"/>
            <a:ext cx="45036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6230956" y="1717547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275993" y="1771903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321029" y="1826259"/>
            <a:ext cx="4503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6366066" y="1880616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411102" y="1934972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456139" y="1989328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501175" y="2043684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546212" y="2098040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591248" y="2152396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636285" y="2206752"/>
            <a:ext cx="45036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681321" y="2261107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726357" y="2315463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6771394" y="2369819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6816430" y="2424175"/>
            <a:ext cx="4503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6861467" y="2478531"/>
            <a:ext cx="45036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6906503" y="2532887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6909730" y="2587243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912957" y="2641599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6916184" y="2695955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919411" y="2750311"/>
            <a:ext cx="322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6922638" y="2804668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6925865" y="2859024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6929092" y="2913380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6932319" y="2967736"/>
            <a:ext cx="3227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935546" y="3022091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6938773" y="3076447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6942000" y="3130803"/>
            <a:ext cx="322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6945228" y="3185159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948455" y="3239515"/>
            <a:ext cx="3227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951682" y="3293872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6954909" y="3348228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958136" y="3402584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961363" y="3456940"/>
            <a:ext cx="3227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6923011" y="3511296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6881433" y="3565652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>
            <a:off x="6839855" y="3620008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>
            <a:off x="6798277" y="3674363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>
            <a:off x="6756699" y="3728719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>
            <a:off x="6715120" y="3783076"/>
            <a:ext cx="41579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>
            <a:off x="6673542" y="3837431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>
            <a:off x="6631964" y="3891787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>
            <a:off x="6590386" y="3946143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>
            <a:off x="6548808" y="4000500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>
            <a:off x="6507229" y="4054855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6465651" y="4109211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>
            <a:off x="6424073" y="4163567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>
            <a:off x="6382495" y="4217924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>
            <a:off x="6340917" y="4272279"/>
            <a:ext cx="41578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>
            <a:off x="6299338" y="4326635"/>
            <a:ext cx="41579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>
            <a:off x="6257760" y="4380991"/>
            <a:ext cx="41578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>
            <a:off x="6216182" y="4435348"/>
            <a:ext cx="41578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>
            <a:off x="6168398" y="4489703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>
            <a:off x="6120613" y="4544060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>
            <a:off x="6072829" y="4598415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>
            <a:off x="6025044" y="4652772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>
            <a:off x="5977260" y="4707127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>
            <a:off x="5929475" y="4761484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>
            <a:off x="5881691" y="4815839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>
            <a:off x="5833906" y="4870195"/>
            <a:ext cx="47785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>
            <a:off x="5786122" y="4924551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>
            <a:off x="5738338" y="4978907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>
            <a:off x="5690553" y="5033264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5642769" y="5087619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5594984" y="5141976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5547200" y="5196331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5499415" y="5250688"/>
            <a:ext cx="47785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5451631" y="5305043"/>
            <a:ext cx="47784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5403846" y="5359400"/>
            <a:ext cx="47785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5356062" y="5413756"/>
            <a:ext cx="47784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5346432" y="5468112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5336802" y="5522468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>
            <a:off x="5327171" y="5576823"/>
            <a:ext cx="9631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>
            <a:off x="5317541" y="5631180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>
            <a:off x="5307911" y="5685535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5298281" y="5739892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5288651" y="5794247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>
            <a:off x="5279020" y="5848604"/>
            <a:ext cx="9631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>
            <a:off x="5269390" y="5902959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>
            <a:off x="5259760" y="5957316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>
            <a:off x="5250130" y="6011672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5240500" y="6066028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>
            <a:off x="5230870" y="6120384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>
            <a:off x="5221239" y="6174740"/>
            <a:ext cx="9631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>
            <a:off x="5211609" y="6229096"/>
            <a:ext cx="9630" cy="54355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>
            <a:off x="5201979" y="6283451"/>
            <a:ext cx="9630" cy="54357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>
            <a:off x="5192349" y="6337808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>
            <a:off x="5182719" y="6392164"/>
            <a:ext cx="9630" cy="54356"/>
          </a:xfrm>
          <a:prstGeom prst="line">
            <a:avLst/>
          </a:prstGeom>
          <a:ln w="25400">
            <a:solidFill>
              <a:srgbClr val="7A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912967" y="1371600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07</a:t>
            </a:r>
          </a:p>
        </p:txBody>
      </p:sp>
      <p:sp>
        <p:nvSpPr>
          <p:cNvPr id="279" name="Oval 278"/>
          <p:cNvSpPr/>
          <p:nvPr/>
        </p:nvSpPr>
        <p:spPr>
          <a:xfrm>
            <a:off x="6723623" y="2350007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08</a:t>
            </a:r>
          </a:p>
        </p:txBody>
      </p:sp>
      <p:sp>
        <p:nvSpPr>
          <p:cNvPr id="280" name="Oval 279"/>
          <p:cNvSpPr/>
          <p:nvPr/>
        </p:nvSpPr>
        <p:spPr>
          <a:xfrm>
            <a:off x="6781710" y="3328415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09</a:t>
            </a:r>
          </a:p>
        </p:txBody>
      </p:sp>
      <p:sp>
        <p:nvSpPr>
          <p:cNvPr id="281" name="Oval 280"/>
          <p:cNvSpPr/>
          <p:nvPr/>
        </p:nvSpPr>
        <p:spPr>
          <a:xfrm>
            <a:off x="6033302" y="4306823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10</a:t>
            </a:r>
          </a:p>
        </p:txBody>
      </p:sp>
      <p:sp>
        <p:nvSpPr>
          <p:cNvPr id="282" name="Oval 281"/>
          <p:cNvSpPr/>
          <p:nvPr/>
        </p:nvSpPr>
        <p:spPr>
          <a:xfrm>
            <a:off x="5173182" y="5285231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11</a:t>
            </a:r>
          </a:p>
        </p:txBody>
      </p:sp>
      <p:sp>
        <p:nvSpPr>
          <p:cNvPr id="283" name="Oval 282"/>
          <p:cNvSpPr/>
          <p:nvPr/>
        </p:nvSpPr>
        <p:spPr>
          <a:xfrm>
            <a:off x="4999839" y="6263640"/>
            <a:ext cx="365760" cy="365760"/>
          </a:xfrm>
          <a:prstGeom prst="ellipse">
            <a:avLst/>
          </a:prstGeom>
          <a:solidFill>
            <a:srgbClr val="050810"/>
          </a:solidFill>
          <a:ln w="22225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C8F4FF"/>
                </a:solidFill>
                <a:latin typeface="Consolas"/>
              </a:rPr>
              <a:t>12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3581247" y="1170432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Jan 2024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203807" y="1536192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Extensively evaluated the actuator. Damaged it — no actuation, over-current event.</a:t>
            </a:r>
          </a:p>
        </p:txBody>
      </p:sp>
      <p:sp>
        <p:nvSpPr>
          <p:cNvPr id="286" name="Rounded Rectangle 285"/>
          <p:cNvSpPr/>
          <p:nvPr/>
        </p:nvSpPr>
        <p:spPr>
          <a:xfrm>
            <a:off x="4391903" y="2148839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Apr 2024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014463" y="2514599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Ordered additional actuators and continued evaluation.</a:t>
            </a:r>
          </a:p>
        </p:txBody>
      </p:sp>
      <p:sp>
        <p:nvSpPr>
          <p:cNvPr id="288" name="Rounded Rectangle 287"/>
          <p:cNvSpPr/>
          <p:nvPr/>
        </p:nvSpPr>
        <p:spPr>
          <a:xfrm>
            <a:off x="4449990" y="3127248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Aug 2024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072550" y="3493008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Sankalp joined PhD on "SMA actuator design and development for space applications".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3701582" y="4105655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Sept 2025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324142" y="4471416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/>
            <a:r>
              <a:rPr sz="1200">
                <a:solidFill>
                  <a:srgbClr val="ECF0F4"/>
                </a:solidFill>
                <a:latin typeface="Calibri"/>
              </a:rPr>
              <a:t>Kushagra worked with a space-robotics startup using super-elastic Nitinol wire for satellite capture.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5950422" y="5084064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May 2026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50422" y="5449824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200">
                <a:solidFill>
                  <a:srgbClr val="ECF0F4"/>
                </a:solidFill>
                <a:latin typeface="Calibri"/>
              </a:rPr>
              <a:t>Amorphis established for development of sector-agnostic SMA actuators.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5777079" y="6062472"/>
            <a:ext cx="1920240" cy="292608"/>
          </a:xfrm>
          <a:prstGeom prst="roundRect">
            <a:avLst/>
          </a:prstGeom>
          <a:solidFill>
            <a:srgbClr val="0A1020"/>
          </a:solidFill>
          <a:ln w="10160">
            <a:solidFill>
              <a:srgbClr val="7A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none"/>
          <a:lstStyle/>
          <a:p>
            <a:pPr algn="ctr"/>
            <a:r>
              <a:rPr sz="1100" b="1" spc="120">
                <a:solidFill>
                  <a:srgbClr val="C8F4FF"/>
                </a:solidFill>
                <a:latin typeface="Consolas"/>
              </a:rPr>
              <a:t>May 2027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777079" y="6428232"/>
            <a:ext cx="42976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200">
                <a:solidFill>
                  <a:srgbClr val="ECF0F4"/>
                </a:solidFill>
                <a:latin typeface="Calibri"/>
              </a:rPr>
              <a:t>First indigenous SMA actuator — market release.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48640" y="6583680"/>
            <a:ext cx="8229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spc="500">
                <a:solidFill>
                  <a:srgbClr val="6A7280"/>
                </a:solidFill>
                <a:latin typeface="Consolas"/>
              </a:rPr>
              <a:t>AMORPHIS · INDIA'S FIRST SPACE-GRADE SMA ACTUATOR COMPANY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8686800" y="6583680"/>
            <a:ext cx="3200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spc="500">
                <a:solidFill>
                  <a:srgbClr val="98A0AA"/>
                </a:solidFill>
                <a:latin typeface="Consolas"/>
              </a:rPr>
              <a:t>PART 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