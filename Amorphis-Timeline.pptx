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611215" y="384048"/>
            <a:ext cx="164592" cy="164592"/>
          </a:xfrm>
          <a:prstGeom prst="rect">
            <a:avLst/>
          </a:prstGeom>
          <a:solidFill>
            <a:srgbClr val="E85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12383" y="384048"/>
            <a:ext cx="164592" cy="164592"/>
          </a:xfrm>
          <a:prstGeom prst="rect">
            <a:avLst/>
          </a:prstGeom>
          <a:solidFill>
            <a:srgbClr val="F5B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13551" y="384048"/>
            <a:ext cx="164592" cy="164592"/>
          </a:xfrm>
          <a:prstGeom prst="rect">
            <a:avLst/>
          </a:prstGeom>
          <a:solidFill>
            <a:srgbClr val="6CB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4719" y="384048"/>
            <a:ext cx="164592" cy="164592"/>
          </a:xfrm>
          <a:prstGeom prst="rect">
            <a:avLst/>
          </a:prstGeom>
          <a:solidFill>
            <a:srgbClr val="44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15887" y="384048"/>
            <a:ext cx="164592" cy="164592"/>
          </a:xfrm>
          <a:prstGeom prst="rect">
            <a:avLst/>
          </a:prstGeom>
          <a:solidFill>
            <a:srgbClr val="5C9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0" y="603504"/>
            <a:ext cx="121916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spc="250">
                <a:solidFill>
                  <a:srgbClr val="1F232B"/>
                </a:solidFill>
                <a:latin typeface="Calibri"/>
              </a:rPr>
              <a:t>OUR ROAD TO ORBIT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1078992"/>
            <a:ext cx="121916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spc="400">
                <a:solidFill>
                  <a:srgbClr val="525966"/>
                </a:solidFill>
                <a:latin typeface="Consolas"/>
              </a:rPr>
              <a:t>〔  PART 1 / 2   ·   AUG 2021 → SEPT 2023   ·   AMORPHIS  〕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74320" y="3873563"/>
            <a:ext cx="23964" cy="217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98284" y="3844927"/>
            <a:ext cx="26148" cy="2863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24432" y="3810199"/>
            <a:ext cx="28290" cy="3472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52722" y="3770143"/>
            <a:ext cx="30394" cy="4005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83116" y="3725522"/>
            <a:ext cx="32458" cy="4462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15574" y="3677102"/>
            <a:ext cx="34482" cy="4842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50056" y="3625645"/>
            <a:ext cx="36466" cy="5145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86522" y="3571917"/>
            <a:ext cx="38411" cy="5372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24933" y="3516680"/>
            <a:ext cx="40316" cy="552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65249" y="3460699"/>
            <a:ext cx="42181" cy="559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07430" y="3404738"/>
            <a:ext cx="44007" cy="5596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51437" y="3349561"/>
            <a:ext cx="45793" cy="5517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97230" y="3295932"/>
            <a:ext cx="47539" cy="5362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44769" y="3244614"/>
            <a:ext cx="49245" cy="5131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94014" y="3196372"/>
            <a:ext cx="50913" cy="4824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44927" y="3151970"/>
            <a:ext cx="52539" cy="4440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7466" y="3112172"/>
            <a:ext cx="54127" cy="3979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51593" y="3077741"/>
            <a:ext cx="55675" cy="3443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07268" y="3049442"/>
            <a:ext cx="57183" cy="2829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64451" y="3028039"/>
            <a:ext cx="58652" cy="2140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123103" y="3014296"/>
            <a:ext cx="60080" cy="1374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183183" y="3008976"/>
            <a:ext cx="61469" cy="532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244652" y="3008976"/>
            <a:ext cx="62819" cy="386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07471" y="3012844"/>
            <a:ext cx="64129" cy="1382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371600" y="3026664"/>
            <a:ext cx="66324" cy="2652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437924" y="3053188"/>
            <a:ext cx="69301" cy="4057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07225" y="3093762"/>
            <a:ext cx="72079" cy="5327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579304" y="3147036"/>
            <a:ext cx="74659" cy="6462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653963" y="3211660"/>
            <a:ext cx="77040" cy="7462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731003" y="3286286"/>
            <a:ext cx="79223" cy="8327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810226" y="3369564"/>
            <a:ext cx="81207" cy="9058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891433" y="3460144"/>
            <a:ext cx="82993" cy="9653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974426" y="3556677"/>
            <a:ext cx="84581" cy="1011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59007" y="3657814"/>
            <a:ext cx="85970" cy="10439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144977" y="3762205"/>
            <a:ext cx="87160" cy="10629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232137" y="3868502"/>
            <a:ext cx="88153" cy="10685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320290" y="3975354"/>
            <a:ext cx="88946" cy="10605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409236" y="4081412"/>
            <a:ext cx="89541" cy="10391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498777" y="4185327"/>
            <a:ext cx="89939" cy="10042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588716" y="4285749"/>
            <a:ext cx="90137" cy="955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678853" y="4381330"/>
            <a:ext cx="90137" cy="8939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768990" y="4470720"/>
            <a:ext cx="89938" cy="8184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858928" y="4552569"/>
            <a:ext cx="89542" cy="7295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948470" y="4625527"/>
            <a:ext cx="88946" cy="6272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037416" y="4688247"/>
            <a:ext cx="88153" cy="5113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125569" y="4739378"/>
            <a:ext cx="87160" cy="3819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212729" y="4777570"/>
            <a:ext cx="85970" cy="2390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298699" y="4801475"/>
            <a:ext cx="84581" cy="826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383280" y="4800715"/>
            <a:ext cx="83820" cy="902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467100" y="4774660"/>
            <a:ext cx="83820" cy="260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550920" y="4733127"/>
            <a:ext cx="83820" cy="4153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634740" y="4677664"/>
            <a:ext cx="83820" cy="5546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718560" y="4609818"/>
            <a:ext cx="83820" cy="6784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802380" y="4531137"/>
            <a:ext cx="83820" cy="786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886200" y="4443170"/>
            <a:ext cx="83820" cy="8796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970020" y="4347464"/>
            <a:ext cx="83820" cy="9570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4053840" y="4245566"/>
            <a:ext cx="83820" cy="10189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137660" y="4139025"/>
            <a:ext cx="83820" cy="10654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221480" y="4029388"/>
            <a:ext cx="83820" cy="1096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305300" y="3918204"/>
            <a:ext cx="83820" cy="11118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4389120" y="3807019"/>
            <a:ext cx="83820" cy="11118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4472940" y="3697382"/>
            <a:ext cx="83820" cy="1096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4556760" y="3590841"/>
            <a:ext cx="83820" cy="10654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640580" y="3488944"/>
            <a:ext cx="83820" cy="10189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4724400" y="3393237"/>
            <a:ext cx="83820" cy="9570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4808220" y="3305270"/>
            <a:ext cx="83820" cy="8796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4892040" y="3226589"/>
            <a:ext cx="83820" cy="786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975860" y="3158744"/>
            <a:ext cx="83820" cy="6784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5059680" y="3103280"/>
            <a:ext cx="83820" cy="5546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5143500" y="3061747"/>
            <a:ext cx="83820" cy="4153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227320" y="3035692"/>
            <a:ext cx="83820" cy="260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311140" y="3026664"/>
            <a:ext cx="83820" cy="902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394960" y="3026664"/>
            <a:ext cx="83820" cy="902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478780" y="3035692"/>
            <a:ext cx="83820" cy="260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562600" y="3061747"/>
            <a:ext cx="83820" cy="4153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646420" y="3103280"/>
            <a:ext cx="83820" cy="5546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730240" y="3158744"/>
            <a:ext cx="83820" cy="6784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814060" y="3226589"/>
            <a:ext cx="83820" cy="786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897880" y="3305270"/>
            <a:ext cx="83820" cy="8796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981700" y="3393237"/>
            <a:ext cx="83820" cy="9570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065520" y="3488944"/>
            <a:ext cx="83820" cy="10189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6149340" y="3590841"/>
            <a:ext cx="83820" cy="10654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233160" y="3697382"/>
            <a:ext cx="83820" cy="1096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316980" y="3807019"/>
            <a:ext cx="83820" cy="11118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6400800" y="3918204"/>
            <a:ext cx="83820" cy="11118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484620" y="4029388"/>
            <a:ext cx="83820" cy="1096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6568440" y="4139025"/>
            <a:ext cx="83820" cy="10654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652260" y="4245566"/>
            <a:ext cx="83820" cy="10189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736080" y="4347463"/>
            <a:ext cx="83820" cy="9570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819900" y="4443170"/>
            <a:ext cx="83820" cy="8796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6903720" y="4531137"/>
            <a:ext cx="83820" cy="786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6987540" y="4609818"/>
            <a:ext cx="83820" cy="6784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071360" y="4677663"/>
            <a:ext cx="83820" cy="5546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155180" y="4733127"/>
            <a:ext cx="83820" cy="4153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239000" y="4774660"/>
            <a:ext cx="83820" cy="260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322820" y="4800715"/>
            <a:ext cx="83820" cy="902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406640" y="4800715"/>
            <a:ext cx="83820" cy="902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490460" y="4774660"/>
            <a:ext cx="83820" cy="260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574280" y="4733127"/>
            <a:ext cx="83820" cy="4153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658100" y="4677664"/>
            <a:ext cx="83820" cy="5546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741920" y="4609818"/>
            <a:ext cx="83820" cy="6784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825740" y="4531137"/>
            <a:ext cx="83820" cy="786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7909560" y="4443170"/>
            <a:ext cx="83820" cy="8796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7993380" y="4347464"/>
            <a:ext cx="83819" cy="9570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077199" y="4245566"/>
            <a:ext cx="83820" cy="10189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161019" y="4139025"/>
            <a:ext cx="83820" cy="10654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244839" y="4029388"/>
            <a:ext cx="83820" cy="1096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328659" y="3918204"/>
            <a:ext cx="83821" cy="11118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412480" y="3807019"/>
            <a:ext cx="83820" cy="11118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496300" y="3697382"/>
            <a:ext cx="83820" cy="1096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580120" y="3590841"/>
            <a:ext cx="83820" cy="10654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663940" y="3488944"/>
            <a:ext cx="83820" cy="10189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8747760" y="3393237"/>
            <a:ext cx="83820" cy="9570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831580" y="3305270"/>
            <a:ext cx="83820" cy="8796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8915400" y="3226589"/>
            <a:ext cx="83820" cy="786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999220" y="3158744"/>
            <a:ext cx="83820" cy="6784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083040" y="3103280"/>
            <a:ext cx="83820" cy="5546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166860" y="3061747"/>
            <a:ext cx="83820" cy="4153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250680" y="3035692"/>
            <a:ext cx="83819" cy="260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34499" y="3026664"/>
            <a:ext cx="83821" cy="902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9418320" y="3026664"/>
            <a:ext cx="85037" cy="830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9503357" y="3034970"/>
            <a:ext cx="87259" cy="2401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9590616" y="3058982"/>
            <a:ext cx="89165" cy="3836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9679781" y="3097342"/>
            <a:ext cx="90752" cy="5134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9770533" y="3148689"/>
            <a:ext cx="92022" cy="6297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9862555" y="3211665"/>
            <a:ext cx="92975" cy="7324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9955530" y="3284910"/>
            <a:ext cx="93609" cy="821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049139" y="3367065"/>
            <a:ext cx="93927" cy="8970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0143066" y="3456770"/>
            <a:ext cx="93927" cy="9589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0236993" y="3552667"/>
            <a:ext cx="93610" cy="10072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330603" y="3653395"/>
            <a:ext cx="92974" cy="10420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423577" y="3757596"/>
            <a:ext cx="92023" cy="10631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515600" y="3863911"/>
            <a:ext cx="90752" cy="10706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606352" y="3970980"/>
            <a:ext cx="89164" cy="10646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695516" y="4077443"/>
            <a:ext cx="87260" cy="10449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782776" y="4181942"/>
            <a:ext cx="85037" cy="10117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867813" y="4283117"/>
            <a:ext cx="82497" cy="9649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950310" y="4379609"/>
            <a:ext cx="79640" cy="9044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1029950" y="4470058"/>
            <a:ext cx="76464" cy="8304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1106414" y="4553106"/>
            <a:ext cx="72972" cy="7428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1179386" y="4627393"/>
            <a:ext cx="69162" cy="6416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1248548" y="4691559"/>
            <a:ext cx="65035" cy="5268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1313583" y="4744246"/>
            <a:ext cx="60589" cy="3984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1374172" y="4784094"/>
            <a:ext cx="55828" cy="2565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1430000" y="4809744"/>
            <a:ext cx="51309" cy="1275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1481309" y="4822495"/>
            <a:ext cx="47380" cy="25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1528689" y="4818271"/>
            <a:ext cx="43650" cy="680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1572339" y="4802864"/>
            <a:ext cx="40117" cy="1540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1612456" y="4779639"/>
            <a:ext cx="36784" cy="2322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1649240" y="4749379"/>
            <a:ext cx="33648" cy="3026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1682888" y="4712868"/>
            <a:ext cx="30712" cy="3651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1713600" y="4670890"/>
            <a:ext cx="27973" cy="4197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1741573" y="4624229"/>
            <a:ext cx="25433" cy="4666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1767006" y="4573669"/>
            <a:ext cx="23091" cy="5056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1790097" y="4519993"/>
            <a:ext cx="20949" cy="5367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1811046" y="4463986"/>
            <a:ext cx="19004" cy="5600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1830050" y="4406431"/>
            <a:ext cx="17257" cy="575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1847307" y="4348112"/>
            <a:ext cx="15710" cy="5831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1863017" y="4289812"/>
            <a:ext cx="14360" cy="5830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1877377" y="4232317"/>
            <a:ext cx="13209" cy="5749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1890586" y="4176409"/>
            <a:ext cx="12257" cy="5590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1902843" y="4122872"/>
            <a:ext cx="11503" cy="535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1914346" y="4072490"/>
            <a:ext cx="10947" cy="5038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1925293" y="4026048"/>
            <a:ext cx="10590" cy="4644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1935883" y="3984328"/>
            <a:ext cx="10431" cy="4172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1946314" y="3948115"/>
            <a:ext cx="10471" cy="3621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1956785" y="3918192"/>
            <a:ext cx="10709" cy="2992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1967494" y="3895344"/>
            <a:ext cx="11146" cy="2284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274320" y="3818699"/>
            <a:ext cx="23964" cy="217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298284" y="3790063"/>
            <a:ext cx="26148" cy="2863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324432" y="3755335"/>
            <a:ext cx="28290" cy="3472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352722" y="3715279"/>
            <a:ext cx="30394" cy="4005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383116" y="3670658"/>
            <a:ext cx="32458" cy="4462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415574" y="3622238"/>
            <a:ext cx="34482" cy="4842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450056" y="3570781"/>
            <a:ext cx="36466" cy="5145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486522" y="3517053"/>
            <a:ext cx="38411" cy="5372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524933" y="3461816"/>
            <a:ext cx="40316" cy="552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565249" y="3405835"/>
            <a:ext cx="42181" cy="559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607430" y="3349874"/>
            <a:ext cx="44007" cy="5596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651437" y="3294697"/>
            <a:ext cx="45793" cy="5517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697230" y="3241068"/>
            <a:ext cx="47539" cy="5362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744769" y="3189750"/>
            <a:ext cx="49245" cy="5131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794014" y="3141508"/>
            <a:ext cx="50913" cy="4824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844927" y="3097106"/>
            <a:ext cx="52539" cy="4440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897466" y="3057308"/>
            <a:ext cx="54127" cy="3979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951593" y="3022877"/>
            <a:ext cx="55675" cy="3443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1007268" y="2994578"/>
            <a:ext cx="57183" cy="2829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1064451" y="2973175"/>
            <a:ext cx="58652" cy="2140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1123103" y="2959432"/>
            <a:ext cx="60080" cy="1374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1183183" y="2954112"/>
            <a:ext cx="61469" cy="532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244652" y="2954112"/>
            <a:ext cx="62819" cy="386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1307471" y="2957980"/>
            <a:ext cx="64129" cy="1382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1371600" y="2971800"/>
            <a:ext cx="66324" cy="2652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1437924" y="2998324"/>
            <a:ext cx="69301" cy="4057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1507225" y="3038898"/>
            <a:ext cx="72079" cy="5327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1579304" y="3092172"/>
            <a:ext cx="74659" cy="6462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1653963" y="3156796"/>
            <a:ext cx="77040" cy="7462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1731003" y="3231422"/>
            <a:ext cx="79223" cy="8327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810226" y="3314700"/>
            <a:ext cx="81207" cy="9058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1891433" y="3405280"/>
            <a:ext cx="82993" cy="9653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1974426" y="3501813"/>
            <a:ext cx="84581" cy="1011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2059007" y="3602950"/>
            <a:ext cx="85970" cy="10439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2144977" y="3707341"/>
            <a:ext cx="87160" cy="10629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2232137" y="3813638"/>
            <a:ext cx="88153" cy="10685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2320290" y="3920490"/>
            <a:ext cx="88946" cy="10605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2409236" y="4026548"/>
            <a:ext cx="89541" cy="10391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2498777" y="4130463"/>
            <a:ext cx="89939" cy="10042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2588716" y="4230885"/>
            <a:ext cx="90137" cy="955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2678853" y="4326466"/>
            <a:ext cx="90137" cy="8939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2768990" y="4415856"/>
            <a:ext cx="89938" cy="8184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2858928" y="4497705"/>
            <a:ext cx="89542" cy="7295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2948470" y="4570663"/>
            <a:ext cx="88946" cy="6272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3037416" y="4633383"/>
            <a:ext cx="88153" cy="5113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3125569" y="4684514"/>
            <a:ext cx="87160" cy="3819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3212729" y="4722706"/>
            <a:ext cx="85970" cy="2390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3298699" y="4746611"/>
            <a:ext cx="84581" cy="826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3383280" y="4745851"/>
            <a:ext cx="83820" cy="902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3467100" y="4719796"/>
            <a:ext cx="83820" cy="260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3550920" y="4678263"/>
            <a:ext cx="83820" cy="4153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3634740" y="4622800"/>
            <a:ext cx="83820" cy="5546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3718560" y="4554954"/>
            <a:ext cx="83820" cy="6784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3802380" y="4476273"/>
            <a:ext cx="83820" cy="786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3886200" y="4388306"/>
            <a:ext cx="83820" cy="8796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3970020" y="4292600"/>
            <a:ext cx="83820" cy="9570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4053840" y="4190702"/>
            <a:ext cx="83820" cy="10189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4137660" y="4084161"/>
            <a:ext cx="83820" cy="10654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4221480" y="3974524"/>
            <a:ext cx="83820" cy="1096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4305300" y="3863340"/>
            <a:ext cx="83820" cy="11118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4389120" y="3752155"/>
            <a:ext cx="83820" cy="11118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4472940" y="3642518"/>
            <a:ext cx="83820" cy="1096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4556760" y="3535977"/>
            <a:ext cx="83820" cy="10654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4640580" y="3434080"/>
            <a:ext cx="83820" cy="10189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4724400" y="3338373"/>
            <a:ext cx="83820" cy="9570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4808220" y="3250406"/>
            <a:ext cx="83820" cy="8796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4892040" y="3171725"/>
            <a:ext cx="83820" cy="786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4975860" y="3103880"/>
            <a:ext cx="83820" cy="6784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5059680" y="3048416"/>
            <a:ext cx="83820" cy="5546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5143500" y="3006883"/>
            <a:ext cx="83820" cy="4153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5227320" y="2980828"/>
            <a:ext cx="83820" cy="260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5311140" y="2971800"/>
            <a:ext cx="83820" cy="902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5394960" y="2971800"/>
            <a:ext cx="83820" cy="902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5478780" y="2980828"/>
            <a:ext cx="83820" cy="260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5562600" y="3006883"/>
            <a:ext cx="83820" cy="4153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5646420" y="3048416"/>
            <a:ext cx="83820" cy="5546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5730240" y="3103880"/>
            <a:ext cx="83820" cy="6784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5814060" y="3171725"/>
            <a:ext cx="83820" cy="786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5897880" y="3250406"/>
            <a:ext cx="83820" cy="8796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5981700" y="3338373"/>
            <a:ext cx="83820" cy="9570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6065520" y="3434080"/>
            <a:ext cx="83820" cy="10189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6149340" y="3535977"/>
            <a:ext cx="83820" cy="10654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6233160" y="3642518"/>
            <a:ext cx="83820" cy="1096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6316980" y="3752155"/>
            <a:ext cx="83820" cy="11118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6400800" y="3863340"/>
            <a:ext cx="83820" cy="11118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6484620" y="3974524"/>
            <a:ext cx="83820" cy="1096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6568440" y="4084161"/>
            <a:ext cx="83820" cy="10654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6652260" y="4190702"/>
            <a:ext cx="83820" cy="10189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6736080" y="4292599"/>
            <a:ext cx="83820" cy="9570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6819900" y="4388306"/>
            <a:ext cx="83820" cy="8796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6903720" y="4476273"/>
            <a:ext cx="83820" cy="786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6987540" y="4554954"/>
            <a:ext cx="83820" cy="6784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7071360" y="4622800"/>
            <a:ext cx="83820" cy="5546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7155180" y="4678263"/>
            <a:ext cx="83820" cy="4153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7239000" y="4719796"/>
            <a:ext cx="83820" cy="260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7322820" y="4745851"/>
            <a:ext cx="83820" cy="902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7406640" y="4745851"/>
            <a:ext cx="83820" cy="902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7490460" y="4719796"/>
            <a:ext cx="83820" cy="260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7574280" y="4678263"/>
            <a:ext cx="83820" cy="4153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7658100" y="4622800"/>
            <a:ext cx="83820" cy="5546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7741920" y="4554954"/>
            <a:ext cx="83820" cy="6784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7825740" y="4476273"/>
            <a:ext cx="83820" cy="786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7909560" y="4388306"/>
            <a:ext cx="83820" cy="8796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7993380" y="4292600"/>
            <a:ext cx="83819" cy="9570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8077199" y="4190702"/>
            <a:ext cx="83820" cy="10189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8161019" y="4084161"/>
            <a:ext cx="83820" cy="10654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8244839" y="3974524"/>
            <a:ext cx="83820" cy="1096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8328659" y="3863340"/>
            <a:ext cx="83821" cy="11118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8412480" y="3752155"/>
            <a:ext cx="83820" cy="11118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8496300" y="3642518"/>
            <a:ext cx="83820" cy="1096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8580120" y="3535977"/>
            <a:ext cx="83820" cy="10654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8663940" y="3434080"/>
            <a:ext cx="83820" cy="10189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8747760" y="3338373"/>
            <a:ext cx="83820" cy="9570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8831580" y="3250406"/>
            <a:ext cx="83820" cy="8796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8915400" y="3171725"/>
            <a:ext cx="83820" cy="786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8999220" y="3103880"/>
            <a:ext cx="83820" cy="6784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9083040" y="3048416"/>
            <a:ext cx="83820" cy="5546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9166860" y="3006883"/>
            <a:ext cx="83820" cy="4153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9250680" y="2980828"/>
            <a:ext cx="83819" cy="260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9334499" y="2971800"/>
            <a:ext cx="83821" cy="902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9418320" y="2971800"/>
            <a:ext cx="85037" cy="830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9503357" y="2980106"/>
            <a:ext cx="87259" cy="2401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9590616" y="3004118"/>
            <a:ext cx="89165" cy="3836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9679781" y="3042478"/>
            <a:ext cx="90752" cy="5134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9770533" y="3093825"/>
            <a:ext cx="92022" cy="6297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9862555" y="3156801"/>
            <a:ext cx="92975" cy="7324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9955530" y="3230046"/>
            <a:ext cx="93609" cy="821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10049139" y="3312201"/>
            <a:ext cx="93927" cy="8970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10143066" y="3401906"/>
            <a:ext cx="93927" cy="9589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0236993" y="3497803"/>
            <a:ext cx="93610" cy="10072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0330603" y="3598531"/>
            <a:ext cx="92974" cy="10420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0423577" y="3702732"/>
            <a:ext cx="92023" cy="10631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0515600" y="3809047"/>
            <a:ext cx="90752" cy="10706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0606352" y="3916116"/>
            <a:ext cx="89164" cy="10646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0695516" y="4022579"/>
            <a:ext cx="87260" cy="10449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0782776" y="4127078"/>
            <a:ext cx="85037" cy="10117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0867813" y="4228253"/>
            <a:ext cx="82497" cy="9649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0950310" y="4324745"/>
            <a:ext cx="79640" cy="9044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1029950" y="4415194"/>
            <a:ext cx="76464" cy="8304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1106414" y="4498242"/>
            <a:ext cx="72972" cy="7428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1179386" y="4572529"/>
            <a:ext cx="69162" cy="6416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1248548" y="4636695"/>
            <a:ext cx="65035" cy="5268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1313583" y="4689382"/>
            <a:ext cx="60589" cy="3984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1374172" y="4729230"/>
            <a:ext cx="55828" cy="2565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1430000" y="4754880"/>
            <a:ext cx="51309" cy="1275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1481309" y="4767631"/>
            <a:ext cx="47380" cy="25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11528689" y="4763407"/>
            <a:ext cx="43650" cy="680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11572339" y="4748000"/>
            <a:ext cx="40117" cy="1540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11612456" y="4724775"/>
            <a:ext cx="36784" cy="2322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11649240" y="4694515"/>
            <a:ext cx="33648" cy="3026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11682888" y="4658004"/>
            <a:ext cx="30712" cy="3651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11713600" y="4616026"/>
            <a:ext cx="27973" cy="4197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11741573" y="4569365"/>
            <a:ext cx="25433" cy="4666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1767006" y="4518805"/>
            <a:ext cx="23091" cy="5056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1790097" y="4465129"/>
            <a:ext cx="20949" cy="5367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1811046" y="4409122"/>
            <a:ext cx="19004" cy="5600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1830050" y="4351567"/>
            <a:ext cx="17257" cy="575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1847307" y="4293248"/>
            <a:ext cx="15710" cy="5831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11863017" y="4234948"/>
            <a:ext cx="14360" cy="5830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11877377" y="4177453"/>
            <a:ext cx="13209" cy="5749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11890586" y="4121545"/>
            <a:ext cx="12257" cy="5590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11902843" y="4068008"/>
            <a:ext cx="11503" cy="535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11914346" y="4017626"/>
            <a:ext cx="10947" cy="5038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11925293" y="3971184"/>
            <a:ext cx="10590" cy="4644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11935883" y="3929464"/>
            <a:ext cx="10431" cy="4172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11946314" y="3893251"/>
            <a:ext cx="10471" cy="3621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11956785" y="3863328"/>
            <a:ext cx="10709" cy="2992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11967494" y="3840480"/>
            <a:ext cx="11146" cy="2284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274320" y="3818699"/>
            <a:ext cx="23964" cy="2178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298284" y="3790063"/>
            <a:ext cx="26148" cy="2863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324432" y="3755335"/>
            <a:ext cx="28290" cy="3472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352722" y="3715279"/>
            <a:ext cx="30394" cy="4005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383116" y="3670658"/>
            <a:ext cx="32458" cy="4462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415574" y="3622238"/>
            <a:ext cx="34482" cy="4842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450056" y="3612650"/>
            <a:ext cx="6794" cy="958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630157" y="3349874"/>
            <a:ext cx="21280" cy="2706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651437" y="3294697"/>
            <a:ext cx="45793" cy="5517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697230" y="3241068"/>
            <a:ext cx="47539" cy="5362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744769" y="3189750"/>
            <a:ext cx="49245" cy="5131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794014" y="3159701"/>
            <a:ext cx="31713" cy="3004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1065317" y="2973175"/>
            <a:ext cx="57786" cy="2108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1123103" y="2959432"/>
            <a:ext cx="60080" cy="1374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1183183" y="2954112"/>
            <a:ext cx="61469" cy="532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1244652" y="2954112"/>
            <a:ext cx="62819" cy="386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1307471" y="2957980"/>
            <a:ext cx="43821" cy="944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1602340" y="3112112"/>
            <a:ext cx="51623" cy="4468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1653963" y="3156796"/>
            <a:ext cx="77040" cy="7462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1731003" y="3231422"/>
            <a:ext cx="79223" cy="8327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1810226" y="3314700"/>
            <a:ext cx="1424" cy="158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2003798" y="3536934"/>
            <a:ext cx="55209" cy="6601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2059007" y="3602950"/>
            <a:ext cx="85970" cy="10439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2144977" y="3707341"/>
            <a:ext cx="45218" cy="5514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2376798" y="3987870"/>
            <a:ext cx="32438" cy="3867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2409236" y="4026548"/>
            <a:ext cx="89541" cy="10391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2498777" y="4130463"/>
            <a:ext cx="70022" cy="7818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2772267" y="4418838"/>
            <a:ext cx="86661" cy="7886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2858928" y="4497705"/>
            <a:ext cx="89542" cy="7295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2948470" y="4570663"/>
            <a:ext cx="48978" cy="3453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3257658" y="4735199"/>
            <a:ext cx="41041" cy="11412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3298699" y="4746611"/>
            <a:ext cx="84581" cy="826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3383280" y="4745851"/>
            <a:ext cx="83820" cy="902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3467100" y="4721890"/>
            <a:ext cx="77083" cy="2396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3789681" y="4554954"/>
            <a:ext cx="12699" cy="1027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3802380" y="4476273"/>
            <a:ext cx="83820" cy="7868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3886200" y="4388306"/>
            <a:ext cx="83820" cy="8796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3970020" y="4358365"/>
            <a:ext cx="26222" cy="2994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4182947" y="4084161"/>
            <a:ext cx="38533" cy="4897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4221480" y="3974524"/>
            <a:ext cx="83820" cy="10963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4305300" y="3900835"/>
            <a:ext cx="55552" cy="7368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4537569" y="3642518"/>
            <a:ext cx="19191" cy="2510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4556760" y="3535977"/>
            <a:ext cx="83820" cy="10654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4640580" y="3439093"/>
            <a:ext cx="79695" cy="9688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4919298" y="3171725"/>
            <a:ext cx="56562" cy="5309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4975860" y="3103880"/>
            <a:ext cx="83820" cy="6784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5059680" y="3048416"/>
            <a:ext cx="83820" cy="5546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5143500" y="3045448"/>
            <a:ext cx="5990" cy="296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5428433" y="2975405"/>
            <a:ext cx="50347" cy="542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5478780" y="2980828"/>
            <a:ext cx="83820" cy="2605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5562600" y="3006883"/>
            <a:ext cx="83820" cy="4153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5646420" y="3048416"/>
            <a:ext cx="50578" cy="3346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5918539" y="3272087"/>
            <a:ext cx="63161" cy="6628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5981700" y="3338373"/>
            <a:ext cx="83820" cy="9570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6065520" y="3434080"/>
            <a:ext cx="46900" cy="5701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6293246" y="3721111"/>
            <a:ext cx="23734" cy="3104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6316980" y="3752155"/>
            <a:ext cx="83820" cy="11118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6400800" y="3863340"/>
            <a:ext cx="68801" cy="91262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6648606" y="4186058"/>
            <a:ext cx="3654" cy="464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6652260" y="4190702"/>
            <a:ext cx="83820" cy="10189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6736080" y="4292599"/>
            <a:ext cx="83820" cy="9570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6819900" y="4388306"/>
            <a:ext cx="18993" cy="1993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7052576" y="4607596"/>
            <a:ext cx="18784" cy="1520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7071360" y="4622800"/>
            <a:ext cx="83820" cy="5546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7155180" y="4678263"/>
            <a:ext cx="83820" cy="4153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7239000" y="4719796"/>
            <a:ext cx="71035" cy="2208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7594740" y="4678263"/>
            <a:ext cx="63360" cy="3139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7658100" y="4622800"/>
            <a:ext cx="83820" cy="5546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7741920" y="4554954"/>
            <a:ext cx="83820" cy="6784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7825740" y="4545679"/>
            <a:ext cx="9880" cy="927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8039294" y="4292600"/>
            <a:ext cx="37905" cy="4328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8077199" y="4190702"/>
            <a:ext cx="83820" cy="10189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8161019" y="4109648"/>
            <a:ext cx="63769" cy="8105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8402205" y="3863340"/>
            <a:ext cx="10275" cy="1362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8412480" y="3752155"/>
            <a:ext cx="83820" cy="11118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8496300" y="3643875"/>
            <a:ext cx="82782" cy="10828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8763174" y="3338373"/>
            <a:ext cx="68406" cy="7810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8831580" y="3250406"/>
            <a:ext cx="83820" cy="8796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8915400" y="3204363"/>
            <a:ext cx="49050" cy="4604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9199631" y="3006883"/>
            <a:ext cx="51049" cy="2529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9250680" y="2980828"/>
            <a:ext cx="83819" cy="2605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9334499" y="2971800"/>
            <a:ext cx="83821" cy="902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9418320" y="2971800"/>
            <a:ext cx="63254" cy="617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9752153" y="3083426"/>
            <a:ext cx="18380" cy="1039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9770533" y="3093825"/>
            <a:ext cx="92022" cy="6297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9862555" y="3156801"/>
            <a:ext cx="92975" cy="7324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9955530" y="3230046"/>
            <a:ext cx="31282" cy="2745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10198905" y="3458916"/>
            <a:ext cx="38088" cy="3888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10236993" y="3497803"/>
            <a:ext cx="93610" cy="10072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10330603" y="3598531"/>
            <a:ext cx="67019" cy="75112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10588673" y="3895259"/>
            <a:ext cx="17679" cy="2085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10606352" y="3916116"/>
            <a:ext cx="89164" cy="10646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10695516" y="4022579"/>
            <a:ext cx="81015" cy="9702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10966004" y="4342569"/>
            <a:ext cx="63946" cy="7262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11029950" y="4415194"/>
            <a:ext cx="76464" cy="8304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11106414" y="4498242"/>
            <a:ext cx="58132" cy="5917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11393137" y="4737943"/>
            <a:ext cx="36863" cy="1693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11430000" y="4754880"/>
            <a:ext cx="51309" cy="1275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11481309" y="4767631"/>
            <a:ext cx="47380" cy="258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11528689" y="4763407"/>
            <a:ext cx="43650" cy="680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11572339" y="4748000"/>
            <a:ext cx="40117" cy="1540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11612456" y="4724775"/>
            <a:ext cx="36784" cy="2322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11649240" y="4710688"/>
            <a:ext cx="15664" cy="1408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V="1">
            <a:off x="11812306" y="4409122"/>
            <a:ext cx="17744" cy="5229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11830050" y="4351567"/>
            <a:ext cx="17257" cy="5755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V="1">
            <a:off x="11847307" y="4293248"/>
            <a:ext cx="15710" cy="5831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V="1">
            <a:off x="11863017" y="4234948"/>
            <a:ext cx="14360" cy="5830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11877377" y="4179532"/>
            <a:ext cx="12731" cy="5541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11956393" y="3893251"/>
            <a:ext cx="392" cy="135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11956785" y="3863328"/>
            <a:ext cx="10709" cy="2992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11967494" y="3840480"/>
            <a:ext cx="11146" cy="2284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1371600" y="1920240"/>
            <a:ext cx="0" cy="850392"/>
          </a:xfrm>
          <a:prstGeom prst="line">
            <a:avLst/>
          </a:prstGeom>
          <a:ln w="33020">
            <a:solidFill>
              <a:srgbClr val="F58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Oval 477"/>
          <p:cNvSpPr/>
          <p:nvPr/>
        </p:nvSpPr>
        <p:spPr>
          <a:xfrm>
            <a:off x="1097280" y="169164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1097280" y="1645920"/>
            <a:ext cx="548640" cy="548640"/>
          </a:xfrm>
          <a:prstGeom prst="ellipse">
            <a:avLst/>
          </a:prstGeom>
          <a:solidFill>
            <a:srgbClr val="F58E5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1097280" y="1755648"/>
            <a:ext cx="548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81" name="Rounded Rectangle 480"/>
          <p:cNvSpPr/>
          <p:nvPr/>
        </p:nvSpPr>
        <p:spPr>
          <a:xfrm>
            <a:off x="1773936" y="1325880"/>
            <a:ext cx="1188720" cy="237744"/>
          </a:xfrm>
          <a:prstGeom prst="roundRect">
            <a:avLst/>
          </a:prstGeom>
          <a:solidFill>
            <a:srgbClr val="F5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none"/>
          <a:lstStyle/>
          <a:p>
            <a:pPr algn="ctr"/>
            <a:r>
              <a:rPr sz="900" b="1" spc="60">
                <a:solidFill>
                  <a:srgbClr val="FFFFFF"/>
                </a:solidFill>
                <a:latin typeface="Consolas"/>
              </a:rPr>
              <a:t>Aug 2021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1773936" y="161848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32B"/>
                </a:solidFill>
                <a:latin typeface="Calibri"/>
              </a:rPr>
              <a:t>Dhruva Evaluation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1773936" y="196596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25966"/>
                </a:solidFill>
                <a:latin typeface="Calibri"/>
              </a:rPr>
              <a:t>Global evaluation of SMA HDRM for Dhruva Space's satellite deployer system.</a:t>
            </a:r>
          </a:p>
        </p:txBody>
      </p:sp>
      <p:cxnSp>
        <p:nvCxnSpPr>
          <p:cNvPr id="484" name="Connector 483"/>
          <p:cNvCxnSpPr/>
          <p:nvPr/>
        </p:nvCxnSpPr>
        <p:spPr>
          <a:xfrm>
            <a:off x="3383280" y="4956048"/>
            <a:ext cx="0" cy="621792"/>
          </a:xfrm>
          <a:prstGeom prst="line">
            <a:avLst/>
          </a:prstGeom>
          <a:ln w="33020">
            <a:solidFill>
              <a:srgbClr val="E85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Oval 484"/>
          <p:cNvSpPr/>
          <p:nvPr/>
        </p:nvSpPr>
        <p:spPr>
          <a:xfrm>
            <a:off x="3108960" y="534924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3108960" y="5303520"/>
            <a:ext cx="548640" cy="548640"/>
          </a:xfrm>
          <a:prstGeom prst="ellipse">
            <a:avLst/>
          </a:prstGeom>
          <a:solidFill>
            <a:srgbClr val="E85B4E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TextBox 486"/>
          <p:cNvSpPr txBox="1"/>
          <p:nvPr/>
        </p:nvSpPr>
        <p:spPr>
          <a:xfrm>
            <a:off x="3108960" y="5413248"/>
            <a:ext cx="548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3785615" y="4960620"/>
            <a:ext cx="1188720" cy="237744"/>
          </a:xfrm>
          <a:prstGeom prst="roundRect">
            <a:avLst/>
          </a:prstGeom>
          <a:solidFill>
            <a:srgbClr val="E85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none"/>
          <a:lstStyle/>
          <a:p>
            <a:pPr algn="ctr"/>
            <a:r>
              <a:rPr sz="900" b="1" spc="60">
                <a:solidFill>
                  <a:srgbClr val="FFFFFF"/>
                </a:solidFill>
                <a:latin typeface="Consolas"/>
              </a:rPr>
              <a:t>Aug 2021 – Mar 2022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3785615" y="525322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32B"/>
                </a:solidFill>
                <a:latin typeface="Calibri"/>
              </a:rPr>
              <a:t>Vendor Quotes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3785615" y="560070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25966"/>
                </a:solidFill>
                <a:latin typeface="Calibri"/>
              </a:rPr>
              <a:t>Vendor quotes ranged $5,000 – $10,000 per system.</a:t>
            </a:r>
          </a:p>
        </p:txBody>
      </p:sp>
      <p:cxnSp>
        <p:nvCxnSpPr>
          <p:cNvPr id="491" name="Connector 490"/>
          <p:cNvCxnSpPr/>
          <p:nvPr/>
        </p:nvCxnSpPr>
        <p:spPr>
          <a:xfrm flipV="1">
            <a:off x="5394960" y="1920240"/>
            <a:ext cx="0" cy="850392"/>
          </a:xfrm>
          <a:prstGeom prst="line">
            <a:avLst/>
          </a:prstGeom>
          <a:ln w="33020">
            <a:solidFill>
              <a:srgbClr val="6CB8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Oval 491"/>
          <p:cNvSpPr/>
          <p:nvPr/>
        </p:nvSpPr>
        <p:spPr>
          <a:xfrm>
            <a:off x="5120640" y="169164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5120640" y="1645920"/>
            <a:ext cx="548640" cy="548640"/>
          </a:xfrm>
          <a:prstGeom prst="ellipse">
            <a:avLst/>
          </a:prstGeom>
          <a:solidFill>
            <a:srgbClr val="6CB87E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TextBox 493"/>
          <p:cNvSpPr txBox="1"/>
          <p:nvPr/>
        </p:nvSpPr>
        <p:spPr>
          <a:xfrm>
            <a:off x="5120640" y="1755648"/>
            <a:ext cx="548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95" name="Rounded Rectangle 494"/>
          <p:cNvSpPr/>
          <p:nvPr/>
        </p:nvSpPr>
        <p:spPr>
          <a:xfrm>
            <a:off x="5797296" y="1325880"/>
            <a:ext cx="1188720" cy="237744"/>
          </a:xfrm>
          <a:prstGeom prst="roundRect">
            <a:avLst/>
          </a:prstGeom>
          <a:solidFill>
            <a:srgbClr val="6CB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none"/>
          <a:lstStyle/>
          <a:p>
            <a:pPr algn="ctr"/>
            <a:r>
              <a:rPr sz="900" b="1" spc="60">
                <a:solidFill>
                  <a:srgbClr val="FFFFFF"/>
                </a:solidFill>
                <a:latin typeface="Consolas"/>
              </a:rPr>
              <a:t>Apr 2022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5797296" y="161848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32B"/>
                </a:solidFill>
                <a:latin typeface="Calibri"/>
              </a:rPr>
              <a:t>Burn-Wire Build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5797296" y="196596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25966"/>
                </a:solidFill>
                <a:latin typeface="Calibri"/>
              </a:rPr>
              <a:t>Built own Dhruva Space burn-wire mechanism. Passed ISRO review board.</a:t>
            </a:r>
          </a:p>
        </p:txBody>
      </p:sp>
      <p:cxnSp>
        <p:nvCxnSpPr>
          <p:cNvPr id="498" name="Connector 497"/>
          <p:cNvCxnSpPr/>
          <p:nvPr/>
        </p:nvCxnSpPr>
        <p:spPr>
          <a:xfrm>
            <a:off x="7406640" y="4956048"/>
            <a:ext cx="0" cy="621792"/>
          </a:xfrm>
          <a:prstGeom prst="line">
            <a:avLst/>
          </a:prstGeom>
          <a:ln w="33020">
            <a:solidFill>
              <a:srgbClr val="44A8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Oval 498"/>
          <p:cNvSpPr/>
          <p:nvPr/>
        </p:nvSpPr>
        <p:spPr>
          <a:xfrm>
            <a:off x="7132320" y="534924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7132320" y="5303520"/>
            <a:ext cx="548640" cy="548640"/>
          </a:xfrm>
          <a:prstGeom prst="ellipse">
            <a:avLst/>
          </a:prstGeom>
          <a:solidFill>
            <a:srgbClr val="44A8B3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7132320" y="5413248"/>
            <a:ext cx="548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02" name="Rounded Rectangle 501"/>
          <p:cNvSpPr/>
          <p:nvPr/>
        </p:nvSpPr>
        <p:spPr>
          <a:xfrm>
            <a:off x="7808976" y="4960620"/>
            <a:ext cx="1188720" cy="237744"/>
          </a:xfrm>
          <a:prstGeom prst="roundRect">
            <a:avLst/>
          </a:prstGeom>
          <a:solidFill>
            <a:srgbClr val="44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none"/>
          <a:lstStyle/>
          <a:p>
            <a:pPr algn="ctr"/>
            <a:r>
              <a:rPr sz="900" b="1" spc="60">
                <a:solidFill>
                  <a:srgbClr val="FFFFFF"/>
                </a:solidFill>
                <a:latin typeface="Consolas"/>
              </a:rPr>
              <a:t>Jan 2023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7808976" y="525322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32B"/>
                </a:solidFill>
                <a:latin typeface="Calibri"/>
              </a:rPr>
              <a:t>ISRO HSFC Proposal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7808976" y="560070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25966"/>
                </a:solidFill>
                <a:latin typeface="Calibri"/>
              </a:rPr>
              <a:t>Co-wrote ISRO HSFC proposal. EoI on SMA actuators for module locking.</a:t>
            </a:r>
          </a:p>
        </p:txBody>
      </p:sp>
      <p:cxnSp>
        <p:nvCxnSpPr>
          <p:cNvPr id="505" name="Connector 504"/>
          <p:cNvCxnSpPr/>
          <p:nvPr/>
        </p:nvCxnSpPr>
        <p:spPr>
          <a:xfrm flipV="1">
            <a:off x="9418320" y="1920240"/>
            <a:ext cx="0" cy="850392"/>
          </a:xfrm>
          <a:prstGeom prst="line">
            <a:avLst/>
          </a:prstGeom>
          <a:ln w="33020">
            <a:solidFill>
              <a:srgbClr val="5C9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Oval 505"/>
          <p:cNvSpPr/>
          <p:nvPr/>
        </p:nvSpPr>
        <p:spPr>
          <a:xfrm>
            <a:off x="9144000" y="169164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9144000" y="1645920"/>
            <a:ext cx="548640" cy="548640"/>
          </a:xfrm>
          <a:prstGeom prst="ellipse">
            <a:avLst/>
          </a:prstGeom>
          <a:solidFill>
            <a:srgbClr val="5C96CA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TextBox 507"/>
          <p:cNvSpPr txBox="1"/>
          <p:nvPr/>
        </p:nvSpPr>
        <p:spPr>
          <a:xfrm>
            <a:off x="9144000" y="1755648"/>
            <a:ext cx="548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09" name="Rounded Rectangle 508"/>
          <p:cNvSpPr/>
          <p:nvPr/>
        </p:nvSpPr>
        <p:spPr>
          <a:xfrm>
            <a:off x="9820656" y="1325880"/>
            <a:ext cx="1188720" cy="237744"/>
          </a:xfrm>
          <a:prstGeom prst="roundRect">
            <a:avLst/>
          </a:prstGeom>
          <a:solidFill>
            <a:srgbClr val="5C9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none"/>
          <a:lstStyle/>
          <a:p>
            <a:pPr algn="ctr"/>
            <a:r>
              <a:rPr sz="900" b="1" spc="60">
                <a:solidFill>
                  <a:srgbClr val="FFFFFF"/>
                </a:solidFill>
                <a:latin typeface="Consolas"/>
              </a:rPr>
              <a:t>Feb 2023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9820656" y="161848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32B"/>
                </a:solidFill>
                <a:latin typeface="Calibri"/>
              </a:rPr>
              <a:t>EM Procurement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9820656" y="196596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25966"/>
                </a:solidFill>
                <a:latin typeface="Calibri"/>
              </a:rPr>
              <a:t>Procured an SMA engineering model from a European startup.</a:t>
            </a:r>
          </a:p>
        </p:txBody>
      </p:sp>
      <p:cxnSp>
        <p:nvCxnSpPr>
          <p:cNvPr id="512" name="Connector 511"/>
          <p:cNvCxnSpPr/>
          <p:nvPr/>
        </p:nvCxnSpPr>
        <p:spPr>
          <a:xfrm>
            <a:off x="11430000" y="4956048"/>
            <a:ext cx="0" cy="621792"/>
          </a:xfrm>
          <a:prstGeom prst="line">
            <a:avLst/>
          </a:prstGeom>
          <a:ln w="33020">
            <a:solidFill>
              <a:srgbClr val="3C4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Oval 512"/>
          <p:cNvSpPr/>
          <p:nvPr/>
        </p:nvSpPr>
        <p:spPr>
          <a:xfrm>
            <a:off x="11155680" y="534924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11155680" y="5303520"/>
            <a:ext cx="548640" cy="548640"/>
          </a:xfrm>
          <a:prstGeom prst="ellipse">
            <a:avLst/>
          </a:prstGeom>
          <a:solidFill>
            <a:srgbClr val="3C4E7A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TextBox 514"/>
          <p:cNvSpPr txBox="1"/>
          <p:nvPr/>
        </p:nvSpPr>
        <p:spPr>
          <a:xfrm>
            <a:off x="11155680" y="5413248"/>
            <a:ext cx="548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16" name="Rounded Rectangle 515"/>
          <p:cNvSpPr/>
          <p:nvPr/>
        </p:nvSpPr>
        <p:spPr>
          <a:xfrm>
            <a:off x="9838943" y="4960620"/>
            <a:ext cx="1188720" cy="237744"/>
          </a:xfrm>
          <a:prstGeom prst="roundRect">
            <a:avLst/>
          </a:prstGeom>
          <a:solidFill>
            <a:srgbClr val="3C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none"/>
          <a:lstStyle/>
          <a:p>
            <a:pPr algn="ctr"/>
            <a:r>
              <a:rPr sz="900" b="1" spc="60">
                <a:solidFill>
                  <a:srgbClr val="FFFFFF"/>
                </a:solidFill>
                <a:latin typeface="Consolas"/>
              </a:rPr>
              <a:t>Sept 2023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9427463" y="525322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1F232B"/>
                </a:solidFill>
                <a:latin typeface="Calibri"/>
              </a:rPr>
              <a:t>Actuator Delivery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9427463" y="560070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525966"/>
                </a:solidFill>
                <a:latin typeface="Calibri"/>
              </a:rPr>
              <a:t>Vibration-qualified, thermo-vac tested European SMA actuator.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500">
                <a:solidFill>
                  <a:srgbClr val="8B93A1"/>
                </a:solidFill>
                <a:latin typeface="Consolas"/>
              </a:rPr>
              <a:t>AMORPHIS · INDIA'S FIRST SPACE-GRADE SMA ACTUATOR COMPANY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686800" y="65836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500">
                <a:solidFill>
                  <a:srgbClr val="8B93A1"/>
                </a:solidFill>
                <a:latin typeface="Consolas"/>
              </a:rPr>
              <a:t>PART 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5080">
            <a:solidFill>
              <a:srgbClr val="E6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611215" y="384048"/>
            <a:ext cx="164592" cy="164592"/>
          </a:xfrm>
          <a:prstGeom prst="rect">
            <a:avLst/>
          </a:prstGeom>
          <a:solidFill>
            <a:srgbClr val="E85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12383" y="384048"/>
            <a:ext cx="164592" cy="164592"/>
          </a:xfrm>
          <a:prstGeom prst="rect">
            <a:avLst/>
          </a:prstGeom>
          <a:solidFill>
            <a:srgbClr val="F5B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13551" y="384048"/>
            <a:ext cx="164592" cy="164592"/>
          </a:xfrm>
          <a:prstGeom prst="rect">
            <a:avLst/>
          </a:prstGeom>
          <a:solidFill>
            <a:srgbClr val="6CB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4719" y="384048"/>
            <a:ext cx="164592" cy="164592"/>
          </a:xfrm>
          <a:prstGeom prst="rect">
            <a:avLst/>
          </a:prstGeom>
          <a:solidFill>
            <a:srgbClr val="44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15887" y="384048"/>
            <a:ext cx="164592" cy="164592"/>
          </a:xfrm>
          <a:prstGeom prst="rect">
            <a:avLst/>
          </a:prstGeom>
          <a:solidFill>
            <a:srgbClr val="5C9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0" y="603504"/>
            <a:ext cx="121916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spc="250">
                <a:solidFill>
                  <a:srgbClr val="1F232B"/>
                </a:solidFill>
                <a:latin typeface="Calibri"/>
              </a:rPr>
              <a:t>OUR ROAD TO ORBIT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1078992"/>
            <a:ext cx="121916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spc="400">
                <a:solidFill>
                  <a:srgbClr val="525966"/>
                </a:solidFill>
                <a:latin typeface="Consolas"/>
              </a:rPr>
              <a:t>〔  PART 2 / 2   ·   JAN 2024 → MAY 2027   ·   AMORPHIS  〕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74320" y="3873563"/>
            <a:ext cx="23964" cy="217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98284" y="3844927"/>
            <a:ext cx="26148" cy="2863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24432" y="3810199"/>
            <a:ext cx="28290" cy="3472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52722" y="3770143"/>
            <a:ext cx="30394" cy="4005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83116" y="3725522"/>
            <a:ext cx="32458" cy="4462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15574" y="3677102"/>
            <a:ext cx="34482" cy="4842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50056" y="3625645"/>
            <a:ext cx="36466" cy="5145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86522" y="3571917"/>
            <a:ext cx="38411" cy="5372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24933" y="3516680"/>
            <a:ext cx="40316" cy="552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65249" y="3460699"/>
            <a:ext cx="42181" cy="559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07430" y="3404738"/>
            <a:ext cx="44007" cy="5596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51437" y="3349561"/>
            <a:ext cx="45793" cy="5517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97230" y="3295932"/>
            <a:ext cx="47539" cy="5362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44769" y="3244614"/>
            <a:ext cx="49245" cy="5131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94014" y="3196372"/>
            <a:ext cx="50913" cy="4824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44927" y="3151970"/>
            <a:ext cx="52539" cy="4440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7466" y="3112172"/>
            <a:ext cx="54127" cy="3979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51593" y="3077741"/>
            <a:ext cx="55675" cy="3443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07268" y="3049442"/>
            <a:ext cx="57183" cy="2829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64451" y="3028039"/>
            <a:ext cx="58652" cy="2140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123103" y="3014296"/>
            <a:ext cx="60080" cy="1374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183183" y="3008976"/>
            <a:ext cx="61469" cy="532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244652" y="3008976"/>
            <a:ext cx="62819" cy="386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07471" y="3012844"/>
            <a:ext cx="64129" cy="1382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371600" y="3026664"/>
            <a:ext cx="66324" cy="2652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437924" y="3053188"/>
            <a:ext cx="69301" cy="4057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07225" y="3093762"/>
            <a:ext cx="72079" cy="5327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579304" y="3147036"/>
            <a:ext cx="74659" cy="6462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653963" y="3211660"/>
            <a:ext cx="77040" cy="7462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731003" y="3286286"/>
            <a:ext cx="79223" cy="8327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810226" y="3369564"/>
            <a:ext cx="81207" cy="9058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891433" y="3460144"/>
            <a:ext cx="82993" cy="9653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974426" y="3556677"/>
            <a:ext cx="84581" cy="1011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059007" y="3657814"/>
            <a:ext cx="85970" cy="10439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144977" y="3762205"/>
            <a:ext cx="87160" cy="10629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232137" y="3868502"/>
            <a:ext cx="88153" cy="10685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320290" y="3975354"/>
            <a:ext cx="88946" cy="10605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409236" y="4081412"/>
            <a:ext cx="89541" cy="10391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498777" y="4185327"/>
            <a:ext cx="89939" cy="10042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588716" y="4285749"/>
            <a:ext cx="90137" cy="955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678853" y="4381330"/>
            <a:ext cx="90137" cy="8939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768990" y="4470720"/>
            <a:ext cx="89938" cy="8184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858928" y="4552569"/>
            <a:ext cx="89542" cy="7295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948470" y="4625527"/>
            <a:ext cx="88946" cy="6272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037416" y="4688247"/>
            <a:ext cx="88153" cy="5113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125569" y="4739378"/>
            <a:ext cx="87160" cy="3819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212729" y="4777570"/>
            <a:ext cx="85970" cy="2390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298699" y="4801475"/>
            <a:ext cx="84581" cy="826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383280" y="4800715"/>
            <a:ext cx="83820" cy="902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467100" y="4774660"/>
            <a:ext cx="83820" cy="260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550920" y="4733127"/>
            <a:ext cx="83820" cy="4153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634740" y="4677664"/>
            <a:ext cx="83820" cy="5546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718560" y="4609818"/>
            <a:ext cx="83820" cy="6784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802380" y="4531137"/>
            <a:ext cx="83820" cy="786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886200" y="4443170"/>
            <a:ext cx="83820" cy="8796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970020" y="4347464"/>
            <a:ext cx="83820" cy="9570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4053840" y="4245566"/>
            <a:ext cx="83820" cy="10189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137660" y="4139025"/>
            <a:ext cx="83820" cy="10654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221480" y="4029388"/>
            <a:ext cx="83820" cy="1096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305300" y="3918204"/>
            <a:ext cx="83820" cy="11118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4389120" y="3807019"/>
            <a:ext cx="83820" cy="11118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4472940" y="3697382"/>
            <a:ext cx="83820" cy="1096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4556760" y="3590841"/>
            <a:ext cx="83820" cy="10654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640580" y="3488944"/>
            <a:ext cx="83820" cy="10189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4724400" y="3393237"/>
            <a:ext cx="83820" cy="9570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4808220" y="3305270"/>
            <a:ext cx="83820" cy="8796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4892040" y="3226589"/>
            <a:ext cx="83820" cy="786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975860" y="3158744"/>
            <a:ext cx="83820" cy="6784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5059680" y="3103280"/>
            <a:ext cx="83820" cy="5546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5143500" y="3061747"/>
            <a:ext cx="83820" cy="4153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227320" y="3035692"/>
            <a:ext cx="83820" cy="260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311140" y="3026664"/>
            <a:ext cx="83820" cy="902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394960" y="3026664"/>
            <a:ext cx="83820" cy="902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478780" y="3035692"/>
            <a:ext cx="83820" cy="260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562600" y="3061747"/>
            <a:ext cx="83820" cy="4153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646420" y="3103280"/>
            <a:ext cx="83820" cy="5546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730240" y="3158744"/>
            <a:ext cx="83820" cy="6784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814060" y="3226589"/>
            <a:ext cx="83820" cy="786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897880" y="3305270"/>
            <a:ext cx="83820" cy="8796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981700" y="3393237"/>
            <a:ext cx="83820" cy="9570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065520" y="3488944"/>
            <a:ext cx="83820" cy="10189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6149340" y="3590841"/>
            <a:ext cx="83820" cy="10654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233160" y="3697382"/>
            <a:ext cx="83820" cy="1096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316980" y="3807019"/>
            <a:ext cx="83820" cy="11118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6400800" y="3918204"/>
            <a:ext cx="83820" cy="11118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484620" y="4029388"/>
            <a:ext cx="83820" cy="1096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6568440" y="4139025"/>
            <a:ext cx="83820" cy="10654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652260" y="4245566"/>
            <a:ext cx="83820" cy="10189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736080" y="4347463"/>
            <a:ext cx="83820" cy="9570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819900" y="4443170"/>
            <a:ext cx="83820" cy="8796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6903720" y="4531137"/>
            <a:ext cx="83820" cy="786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6987540" y="4609818"/>
            <a:ext cx="83820" cy="6784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071360" y="4677663"/>
            <a:ext cx="83820" cy="5546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155180" y="4733127"/>
            <a:ext cx="83820" cy="4153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239000" y="4774660"/>
            <a:ext cx="83820" cy="260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322820" y="4800715"/>
            <a:ext cx="83820" cy="902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406640" y="4800715"/>
            <a:ext cx="83820" cy="902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490460" y="4774660"/>
            <a:ext cx="83820" cy="260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574280" y="4733127"/>
            <a:ext cx="83820" cy="4153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658100" y="4677664"/>
            <a:ext cx="83820" cy="5546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741920" y="4609818"/>
            <a:ext cx="83820" cy="6784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825740" y="4531137"/>
            <a:ext cx="83820" cy="786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7909560" y="4443170"/>
            <a:ext cx="83820" cy="8796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7993380" y="4347464"/>
            <a:ext cx="83819" cy="9570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077199" y="4245566"/>
            <a:ext cx="83820" cy="10189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161019" y="4139025"/>
            <a:ext cx="83820" cy="10654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244839" y="4029388"/>
            <a:ext cx="83820" cy="1096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328659" y="3918204"/>
            <a:ext cx="83821" cy="11118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412480" y="3807019"/>
            <a:ext cx="83820" cy="11118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496300" y="3697382"/>
            <a:ext cx="83820" cy="1096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580120" y="3590841"/>
            <a:ext cx="83820" cy="10654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663940" y="3488944"/>
            <a:ext cx="83820" cy="10189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8747760" y="3393237"/>
            <a:ext cx="83820" cy="9570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831580" y="3305270"/>
            <a:ext cx="83820" cy="8796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8915400" y="3226589"/>
            <a:ext cx="83820" cy="786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999220" y="3158744"/>
            <a:ext cx="83820" cy="6784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083040" y="3103280"/>
            <a:ext cx="83820" cy="55464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166860" y="3061747"/>
            <a:ext cx="83820" cy="4153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250680" y="3035692"/>
            <a:ext cx="83819" cy="260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34499" y="3026664"/>
            <a:ext cx="83821" cy="902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9418320" y="3026664"/>
            <a:ext cx="85037" cy="830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9503357" y="3034970"/>
            <a:ext cx="87259" cy="2401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9590616" y="3058982"/>
            <a:ext cx="89165" cy="3836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9679781" y="3097342"/>
            <a:ext cx="90752" cy="5134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9770533" y="3148689"/>
            <a:ext cx="92022" cy="6297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9862555" y="3211665"/>
            <a:ext cx="92975" cy="7324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9955530" y="3284910"/>
            <a:ext cx="93609" cy="821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049139" y="3367065"/>
            <a:ext cx="93927" cy="8970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0143066" y="3456770"/>
            <a:ext cx="93927" cy="9589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0236993" y="3552667"/>
            <a:ext cx="93610" cy="10072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330603" y="3653395"/>
            <a:ext cx="92974" cy="10420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423577" y="3757596"/>
            <a:ext cx="92023" cy="10631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515600" y="3863911"/>
            <a:ext cx="90752" cy="10706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606352" y="3970980"/>
            <a:ext cx="89164" cy="10646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695516" y="4077443"/>
            <a:ext cx="87260" cy="10449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782776" y="4181942"/>
            <a:ext cx="85037" cy="10117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867813" y="4283117"/>
            <a:ext cx="82497" cy="9649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950310" y="4379609"/>
            <a:ext cx="79640" cy="9044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1029950" y="4470058"/>
            <a:ext cx="76464" cy="8304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1106414" y="4553106"/>
            <a:ext cx="72972" cy="7428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1179386" y="4627393"/>
            <a:ext cx="69162" cy="6416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1248548" y="4691559"/>
            <a:ext cx="65035" cy="5268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1313583" y="4744246"/>
            <a:ext cx="60589" cy="3984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1374172" y="4784094"/>
            <a:ext cx="55828" cy="2565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1430000" y="4809744"/>
            <a:ext cx="51309" cy="1275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1481309" y="4822495"/>
            <a:ext cx="47380" cy="258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1528689" y="4818271"/>
            <a:ext cx="43650" cy="680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1572339" y="4802864"/>
            <a:ext cx="40117" cy="1540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1612456" y="4779639"/>
            <a:ext cx="36784" cy="2322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1649240" y="4749379"/>
            <a:ext cx="33648" cy="3026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1682888" y="4712868"/>
            <a:ext cx="30712" cy="3651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1713600" y="4670890"/>
            <a:ext cx="27973" cy="4197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1741573" y="4624229"/>
            <a:ext cx="25433" cy="46661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1767006" y="4573669"/>
            <a:ext cx="23091" cy="5056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1790097" y="4519993"/>
            <a:ext cx="20949" cy="53676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1811046" y="4463986"/>
            <a:ext cx="19004" cy="5600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1830050" y="4406431"/>
            <a:ext cx="17257" cy="5755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1847307" y="4348112"/>
            <a:ext cx="15710" cy="58319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1863017" y="4289812"/>
            <a:ext cx="14360" cy="5830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1877377" y="4232317"/>
            <a:ext cx="13209" cy="57495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1890586" y="4176409"/>
            <a:ext cx="12257" cy="5590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1902843" y="4122872"/>
            <a:ext cx="11503" cy="53537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1914346" y="4072490"/>
            <a:ext cx="10947" cy="5038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1925293" y="4026048"/>
            <a:ext cx="10590" cy="46442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1935883" y="3984328"/>
            <a:ext cx="10431" cy="41720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1946314" y="3948115"/>
            <a:ext cx="10471" cy="3621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1956785" y="3918192"/>
            <a:ext cx="10709" cy="29923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1967494" y="3895344"/>
            <a:ext cx="11146" cy="22848"/>
          </a:xfrm>
          <a:prstGeom prst="line">
            <a:avLst/>
          </a:prstGeom>
          <a:ln w="406400">
            <a:solidFill>
              <a:srgbClr val="262A32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274320" y="3818699"/>
            <a:ext cx="23964" cy="217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298284" y="3790063"/>
            <a:ext cx="26148" cy="2863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324432" y="3755335"/>
            <a:ext cx="28290" cy="3472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352722" y="3715279"/>
            <a:ext cx="30394" cy="4005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383116" y="3670658"/>
            <a:ext cx="32458" cy="4462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415574" y="3622238"/>
            <a:ext cx="34482" cy="4842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450056" y="3570781"/>
            <a:ext cx="36466" cy="5145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486522" y="3517053"/>
            <a:ext cx="38411" cy="5372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524933" y="3461816"/>
            <a:ext cx="40316" cy="552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565249" y="3405835"/>
            <a:ext cx="42181" cy="559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607430" y="3349874"/>
            <a:ext cx="44007" cy="5596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651437" y="3294697"/>
            <a:ext cx="45793" cy="5517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697230" y="3241068"/>
            <a:ext cx="47539" cy="5362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744769" y="3189750"/>
            <a:ext cx="49245" cy="5131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794014" y="3141508"/>
            <a:ext cx="50913" cy="4824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844927" y="3097106"/>
            <a:ext cx="52539" cy="4440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897466" y="3057308"/>
            <a:ext cx="54127" cy="3979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951593" y="3022877"/>
            <a:ext cx="55675" cy="3443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1007268" y="2994578"/>
            <a:ext cx="57183" cy="2829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1064451" y="2973175"/>
            <a:ext cx="58652" cy="2140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1123103" y="2959432"/>
            <a:ext cx="60080" cy="1374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1183183" y="2954112"/>
            <a:ext cx="61469" cy="532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244652" y="2954112"/>
            <a:ext cx="62819" cy="386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1307471" y="2957980"/>
            <a:ext cx="64129" cy="1382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1371600" y="2971800"/>
            <a:ext cx="66324" cy="2652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1437924" y="2998324"/>
            <a:ext cx="69301" cy="4057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1507225" y="3038898"/>
            <a:ext cx="72079" cy="5327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1579304" y="3092172"/>
            <a:ext cx="74659" cy="6462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1653963" y="3156796"/>
            <a:ext cx="77040" cy="7462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1731003" y="3231422"/>
            <a:ext cx="79223" cy="8327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810226" y="3314700"/>
            <a:ext cx="81207" cy="9058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1891433" y="3405280"/>
            <a:ext cx="82993" cy="9653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1974426" y="3501813"/>
            <a:ext cx="84581" cy="1011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2059007" y="3602950"/>
            <a:ext cx="85970" cy="10439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2144977" y="3707341"/>
            <a:ext cx="87160" cy="10629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2232137" y="3813638"/>
            <a:ext cx="88153" cy="10685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2320290" y="3920490"/>
            <a:ext cx="88946" cy="10605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2409236" y="4026548"/>
            <a:ext cx="89541" cy="10391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2498777" y="4130463"/>
            <a:ext cx="89939" cy="10042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2588716" y="4230885"/>
            <a:ext cx="90137" cy="955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2678853" y="4326466"/>
            <a:ext cx="90137" cy="8939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2768990" y="4415856"/>
            <a:ext cx="89938" cy="8184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2858928" y="4497705"/>
            <a:ext cx="89542" cy="7295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2948470" y="4570663"/>
            <a:ext cx="88946" cy="6272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3037416" y="4633383"/>
            <a:ext cx="88153" cy="5113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3125569" y="4684514"/>
            <a:ext cx="87160" cy="3819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3212729" y="4722706"/>
            <a:ext cx="85970" cy="2390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3298699" y="4746611"/>
            <a:ext cx="84581" cy="826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3383280" y="4745851"/>
            <a:ext cx="83820" cy="902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3467100" y="4719796"/>
            <a:ext cx="83820" cy="260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3550920" y="4678263"/>
            <a:ext cx="83820" cy="4153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3634740" y="4622800"/>
            <a:ext cx="83820" cy="5546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3718560" y="4554954"/>
            <a:ext cx="83820" cy="6784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3802380" y="4476273"/>
            <a:ext cx="83820" cy="786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3886200" y="4388306"/>
            <a:ext cx="83820" cy="8796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3970020" y="4292600"/>
            <a:ext cx="83820" cy="9570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4053840" y="4190702"/>
            <a:ext cx="83820" cy="10189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4137660" y="4084161"/>
            <a:ext cx="83820" cy="10654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4221480" y="3974524"/>
            <a:ext cx="83820" cy="1096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4305300" y="3863340"/>
            <a:ext cx="83820" cy="11118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4389120" y="3752155"/>
            <a:ext cx="83820" cy="11118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4472940" y="3642518"/>
            <a:ext cx="83820" cy="1096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4556760" y="3535977"/>
            <a:ext cx="83820" cy="10654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4640580" y="3434080"/>
            <a:ext cx="83820" cy="10189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4724400" y="3338373"/>
            <a:ext cx="83820" cy="9570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4808220" y="3250406"/>
            <a:ext cx="83820" cy="8796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4892040" y="3171725"/>
            <a:ext cx="83820" cy="786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4975860" y="3103880"/>
            <a:ext cx="83820" cy="6784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5059680" y="3048416"/>
            <a:ext cx="83820" cy="5546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5143500" y="3006883"/>
            <a:ext cx="83820" cy="4153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5227320" y="2980828"/>
            <a:ext cx="83820" cy="260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5311140" y="2971800"/>
            <a:ext cx="83820" cy="902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5394960" y="2971800"/>
            <a:ext cx="83820" cy="902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5478780" y="2980828"/>
            <a:ext cx="83820" cy="260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5562600" y="3006883"/>
            <a:ext cx="83820" cy="4153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5646420" y="3048416"/>
            <a:ext cx="83820" cy="5546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5730240" y="3103880"/>
            <a:ext cx="83820" cy="6784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5814060" y="3171725"/>
            <a:ext cx="83820" cy="786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5897880" y="3250406"/>
            <a:ext cx="83820" cy="8796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5981700" y="3338373"/>
            <a:ext cx="83820" cy="9570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6065520" y="3434080"/>
            <a:ext cx="83820" cy="10189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6149340" y="3535977"/>
            <a:ext cx="83820" cy="10654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6233160" y="3642518"/>
            <a:ext cx="83820" cy="1096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6316980" y="3752155"/>
            <a:ext cx="83820" cy="11118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6400800" y="3863340"/>
            <a:ext cx="83820" cy="11118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6484620" y="3974524"/>
            <a:ext cx="83820" cy="1096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6568440" y="4084161"/>
            <a:ext cx="83820" cy="10654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6652260" y="4190702"/>
            <a:ext cx="83820" cy="10189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6736080" y="4292599"/>
            <a:ext cx="83820" cy="9570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6819900" y="4388306"/>
            <a:ext cx="83820" cy="8796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6903720" y="4476273"/>
            <a:ext cx="83820" cy="786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6987540" y="4554954"/>
            <a:ext cx="83820" cy="6784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7071360" y="4622800"/>
            <a:ext cx="83820" cy="5546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7155180" y="4678263"/>
            <a:ext cx="83820" cy="4153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7239000" y="4719796"/>
            <a:ext cx="83820" cy="260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7322820" y="4745851"/>
            <a:ext cx="83820" cy="902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7406640" y="4745851"/>
            <a:ext cx="83820" cy="902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7490460" y="4719796"/>
            <a:ext cx="83820" cy="260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7574280" y="4678263"/>
            <a:ext cx="83820" cy="4153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7658100" y="4622800"/>
            <a:ext cx="83820" cy="5546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7741920" y="4554954"/>
            <a:ext cx="83820" cy="6784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7825740" y="4476273"/>
            <a:ext cx="83820" cy="786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7909560" y="4388306"/>
            <a:ext cx="83820" cy="8796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7993380" y="4292600"/>
            <a:ext cx="83819" cy="9570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8077199" y="4190702"/>
            <a:ext cx="83820" cy="10189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8161019" y="4084161"/>
            <a:ext cx="83820" cy="10654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8244839" y="3974524"/>
            <a:ext cx="83820" cy="1096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8328659" y="3863340"/>
            <a:ext cx="83821" cy="11118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8412480" y="3752155"/>
            <a:ext cx="83820" cy="11118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8496300" y="3642518"/>
            <a:ext cx="83820" cy="1096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8580120" y="3535977"/>
            <a:ext cx="83820" cy="10654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8663940" y="3434080"/>
            <a:ext cx="83820" cy="10189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8747760" y="3338373"/>
            <a:ext cx="83820" cy="9570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8831580" y="3250406"/>
            <a:ext cx="83820" cy="8796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8915400" y="3171725"/>
            <a:ext cx="83820" cy="786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8999220" y="3103880"/>
            <a:ext cx="83820" cy="6784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9083040" y="3048416"/>
            <a:ext cx="83820" cy="55464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9166860" y="3006883"/>
            <a:ext cx="83820" cy="4153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9250680" y="2980828"/>
            <a:ext cx="83819" cy="260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9334499" y="2971800"/>
            <a:ext cx="83821" cy="902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9418320" y="2971800"/>
            <a:ext cx="85037" cy="830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9503357" y="2980106"/>
            <a:ext cx="87259" cy="2401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9590616" y="3004118"/>
            <a:ext cx="89165" cy="3836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9679781" y="3042478"/>
            <a:ext cx="90752" cy="5134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9770533" y="3093825"/>
            <a:ext cx="92022" cy="6297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9862555" y="3156801"/>
            <a:ext cx="92975" cy="7324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9955530" y="3230046"/>
            <a:ext cx="93609" cy="821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10049139" y="3312201"/>
            <a:ext cx="93927" cy="8970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10143066" y="3401906"/>
            <a:ext cx="93927" cy="9589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0236993" y="3497803"/>
            <a:ext cx="93610" cy="10072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0330603" y="3598531"/>
            <a:ext cx="92974" cy="10420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0423577" y="3702732"/>
            <a:ext cx="92023" cy="10631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0515600" y="3809047"/>
            <a:ext cx="90752" cy="10706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0606352" y="3916116"/>
            <a:ext cx="89164" cy="10646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0695516" y="4022579"/>
            <a:ext cx="87260" cy="10449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0782776" y="4127078"/>
            <a:ext cx="85037" cy="10117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0867813" y="4228253"/>
            <a:ext cx="82497" cy="9649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0950310" y="4324745"/>
            <a:ext cx="79640" cy="9044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1029950" y="4415194"/>
            <a:ext cx="76464" cy="8304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1106414" y="4498242"/>
            <a:ext cx="72972" cy="7428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1179386" y="4572529"/>
            <a:ext cx="69162" cy="6416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1248548" y="4636695"/>
            <a:ext cx="65035" cy="5268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1313583" y="4689382"/>
            <a:ext cx="60589" cy="3984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1374172" y="4729230"/>
            <a:ext cx="55828" cy="2565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1430000" y="4754880"/>
            <a:ext cx="51309" cy="1275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1481309" y="4767631"/>
            <a:ext cx="47380" cy="258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11528689" y="4763407"/>
            <a:ext cx="43650" cy="680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11572339" y="4748000"/>
            <a:ext cx="40117" cy="1540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11612456" y="4724775"/>
            <a:ext cx="36784" cy="2322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11649240" y="4694515"/>
            <a:ext cx="33648" cy="3026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11682888" y="4658004"/>
            <a:ext cx="30712" cy="3651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11713600" y="4616026"/>
            <a:ext cx="27973" cy="4197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11741573" y="4569365"/>
            <a:ext cx="25433" cy="46661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1767006" y="4518805"/>
            <a:ext cx="23091" cy="5056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1790097" y="4465129"/>
            <a:ext cx="20949" cy="53676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1811046" y="4409122"/>
            <a:ext cx="19004" cy="5600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1830050" y="4351567"/>
            <a:ext cx="17257" cy="5755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1847307" y="4293248"/>
            <a:ext cx="15710" cy="58319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11863017" y="4234948"/>
            <a:ext cx="14360" cy="5830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11877377" y="4177453"/>
            <a:ext cx="13209" cy="57495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11890586" y="4121545"/>
            <a:ext cx="12257" cy="5590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11902843" y="4068008"/>
            <a:ext cx="11503" cy="53537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11914346" y="4017626"/>
            <a:ext cx="10947" cy="5038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11925293" y="3971184"/>
            <a:ext cx="10590" cy="46442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11935883" y="3929464"/>
            <a:ext cx="10431" cy="41720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11946314" y="3893251"/>
            <a:ext cx="10471" cy="3621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11956785" y="3863328"/>
            <a:ext cx="10709" cy="29923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11967494" y="3840480"/>
            <a:ext cx="11146" cy="22848"/>
          </a:xfrm>
          <a:prstGeom prst="line">
            <a:avLst/>
          </a:prstGeom>
          <a:ln w="355600">
            <a:solidFill>
              <a:srgbClr val="373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274320" y="3818699"/>
            <a:ext cx="23964" cy="2178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298284" y="3790063"/>
            <a:ext cx="26148" cy="2863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324432" y="3755335"/>
            <a:ext cx="28290" cy="3472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352722" y="3715279"/>
            <a:ext cx="30394" cy="4005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383116" y="3670658"/>
            <a:ext cx="32458" cy="4462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415574" y="3622238"/>
            <a:ext cx="34482" cy="4842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450056" y="3612650"/>
            <a:ext cx="6794" cy="958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630157" y="3349874"/>
            <a:ext cx="21280" cy="2706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651437" y="3294697"/>
            <a:ext cx="45793" cy="5517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697230" y="3241068"/>
            <a:ext cx="47539" cy="5362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744769" y="3189750"/>
            <a:ext cx="49245" cy="5131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794014" y="3159701"/>
            <a:ext cx="31713" cy="3004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1065317" y="2973175"/>
            <a:ext cx="57786" cy="2108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1123103" y="2959432"/>
            <a:ext cx="60080" cy="1374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1183183" y="2954112"/>
            <a:ext cx="61469" cy="532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1244652" y="2954112"/>
            <a:ext cx="62819" cy="386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1307471" y="2957980"/>
            <a:ext cx="43821" cy="944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1602340" y="3112112"/>
            <a:ext cx="51623" cy="4468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1653963" y="3156796"/>
            <a:ext cx="77040" cy="7462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1731003" y="3231422"/>
            <a:ext cx="79223" cy="8327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1810226" y="3314700"/>
            <a:ext cx="1424" cy="158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2003798" y="3536934"/>
            <a:ext cx="55209" cy="6601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2059007" y="3602950"/>
            <a:ext cx="85970" cy="10439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2144977" y="3707341"/>
            <a:ext cx="45218" cy="5514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2376798" y="3987870"/>
            <a:ext cx="32438" cy="3867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2409236" y="4026548"/>
            <a:ext cx="89541" cy="10391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2498777" y="4130463"/>
            <a:ext cx="70022" cy="7818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2772267" y="4418838"/>
            <a:ext cx="86661" cy="7886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2858928" y="4497705"/>
            <a:ext cx="89542" cy="7295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2948470" y="4570663"/>
            <a:ext cx="48978" cy="3453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3257658" y="4735199"/>
            <a:ext cx="41041" cy="11412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3298699" y="4746611"/>
            <a:ext cx="84581" cy="826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3383280" y="4745851"/>
            <a:ext cx="83820" cy="902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3467100" y="4721890"/>
            <a:ext cx="77083" cy="2396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3789681" y="4554954"/>
            <a:ext cx="12699" cy="1027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3802380" y="4476273"/>
            <a:ext cx="83820" cy="7868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3886200" y="4388306"/>
            <a:ext cx="83820" cy="8796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3970020" y="4358365"/>
            <a:ext cx="26222" cy="2994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4182947" y="4084161"/>
            <a:ext cx="38533" cy="4897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4221480" y="3974524"/>
            <a:ext cx="83820" cy="10963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4305300" y="3900835"/>
            <a:ext cx="55552" cy="7368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4537569" y="3642518"/>
            <a:ext cx="19191" cy="2510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4556760" y="3535977"/>
            <a:ext cx="83820" cy="10654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4640580" y="3439093"/>
            <a:ext cx="79695" cy="9688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4919298" y="3171725"/>
            <a:ext cx="56562" cy="5309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4975860" y="3103880"/>
            <a:ext cx="83820" cy="6784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5059680" y="3048416"/>
            <a:ext cx="83820" cy="5546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5143500" y="3045448"/>
            <a:ext cx="5990" cy="296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5428433" y="2975405"/>
            <a:ext cx="50347" cy="542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5478780" y="2980828"/>
            <a:ext cx="83820" cy="2605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5562600" y="3006883"/>
            <a:ext cx="83820" cy="4153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5646420" y="3048416"/>
            <a:ext cx="50578" cy="3346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5918539" y="3272087"/>
            <a:ext cx="63161" cy="6628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5981700" y="3338373"/>
            <a:ext cx="83820" cy="9570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6065520" y="3434080"/>
            <a:ext cx="46900" cy="5701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6293246" y="3721111"/>
            <a:ext cx="23734" cy="3104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6316980" y="3752155"/>
            <a:ext cx="83820" cy="11118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6400800" y="3863340"/>
            <a:ext cx="68801" cy="91262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6648606" y="4186058"/>
            <a:ext cx="3654" cy="464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6652260" y="4190702"/>
            <a:ext cx="83820" cy="10189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6736080" y="4292599"/>
            <a:ext cx="83820" cy="9570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6819900" y="4388306"/>
            <a:ext cx="18993" cy="1993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7052576" y="4607596"/>
            <a:ext cx="18784" cy="1520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7071360" y="4622800"/>
            <a:ext cx="83820" cy="5546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7155180" y="4678263"/>
            <a:ext cx="83820" cy="4153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7239000" y="4719796"/>
            <a:ext cx="71035" cy="2208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7594740" y="4678263"/>
            <a:ext cx="63360" cy="3139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7658100" y="4622800"/>
            <a:ext cx="83820" cy="5546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7741920" y="4554954"/>
            <a:ext cx="83820" cy="6784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7825740" y="4545679"/>
            <a:ext cx="9880" cy="927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8039294" y="4292600"/>
            <a:ext cx="37905" cy="4328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8077199" y="4190702"/>
            <a:ext cx="83820" cy="10189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8161019" y="4109648"/>
            <a:ext cx="63769" cy="8105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8402205" y="3863340"/>
            <a:ext cx="10275" cy="1362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8412480" y="3752155"/>
            <a:ext cx="83820" cy="11118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8496300" y="3643875"/>
            <a:ext cx="82782" cy="10828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8763174" y="3338373"/>
            <a:ext cx="68406" cy="7810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8831580" y="3250406"/>
            <a:ext cx="83820" cy="8796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8915400" y="3204363"/>
            <a:ext cx="49050" cy="4604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9199631" y="3006883"/>
            <a:ext cx="51049" cy="2529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9250680" y="2980828"/>
            <a:ext cx="83819" cy="2605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9334499" y="2971800"/>
            <a:ext cx="83821" cy="902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9418320" y="2971800"/>
            <a:ext cx="63254" cy="617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9752153" y="3083426"/>
            <a:ext cx="18380" cy="1039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9770533" y="3093825"/>
            <a:ext cx="92022" cy="6297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9862555" y="3156801"/>
            <a:ext cx="92975" cy="7324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9955530" y="3230046"/>
            <a:ext cx="31282" cy="2745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10198905" y="3458916"/>
            <a:ext cx="38088" cy="3888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10236993" y="3497803"/>
            <a:ext cx="93610" cy="10072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10330603" y="3598531"/>
            <a:ext cx="67019" cy="75112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10588673" y="3895259"/>
            <a:ext cx="17679" cy="2085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10606352" y="3916116"/>
            <a:ext cx="89164" cy="10646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10695516" y="4022579"/>
            <a:ext cx="81015" cy="9702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10966004" y="4342569"/>
            <a:ext cx="63946" cy="7262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11029950" y="4415194"/>
            <a:ext cx="76464" cy="8304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11106414" y="4498242"/>
            <a:ext cx="58132" cy="5917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11393137" y="4737943"/>
            <a:ext cx="36863" cy="1693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11430000" y="4754880"/>
            <a:ext cx="51309" cy="1275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11481309" y="4767631"/>
            <a:ext cx="47380" cy="2581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11528689" y="4763407"/>
            <a:ext cx="43650" cy="680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11572339" y="4748000"/>
            <a:ext cx="40117" cy="1540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11612456" y="4724775"/>
            <a:ext cx="36784" cy="2322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11649240" y="4710688"/>
            <a:ext cx="15664" cy="1408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V="1">
            <a:off x="11812306" y="4409122"/>
            <a:ext cx="17744" cy="5229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11830050" y="4351567"/>
            <a:ext cx="17257" cy="5755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V="1">
            <a:off x="11847307" y="4293248"/>
            <a:ext cx="15710" cy="5831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V="1">
            <a:off x="11863017" y="4234948"/>
            <a:ext cx="14360" cy="5830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11877377" y="4179532"/>
            <a:ext cx="12731" cy="5541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11956393" y="3893251"/>
            <a:ext cx="392" cy="135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11956785" y="3863328"/>
            <a:ext cx="10709" cy="29923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11967494" y="3840480"/>
            <a:ext cx="11146" cy="2284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1371600" y="1920240"/>
            <a:ext cx="0" cy="850392"/>
          </a:xfrm>
          <a:prstGeom prst="line">
            <a:avLst/>
          </a:prstGeom>
          <a:ln w="33020">
            <a:solidFill>
              <a:srgbClr val="F58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Oval 477"/>
          <p:cNvSpPr/>
          <p:nvPr/>
        </p:nvSpPr>
        <p:spPr>
          <a:xfrm>
            <a:off x="1097280" y="169164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1097280" y="1645920"/>
            <a:ext cx="548640" cy="548640"/>
          </a:xfrm>
          <a:prstGeom prst="ellipse">
            <a:avLst/>
          </a:prstGeom>
          <a:solidFill>
            <a:srgbClr val="F58E5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1097280" y="1755648"/>
            <a:ext cx="548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81" name="Rounded Rectangle 480"/>
          <p:cNvSpPr/>
          <p:nvPr/>
        </p:nvSpPr>
        <p:spPr>
          <a:xfrm>
            <a:off x="1773936" y="1325880"/>
            <a:ext cx="1188720" cy="237744"/>
          </a:xfrm>
          <a:prstGeom prst="roundRect">
            <a:avLst/>
          </a:prstGeom>
          <a:solidFill>
            <a:srgbClr val="F5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none"/>
          <a:lstStyle/>
          <a:p>
            <a:pPr algn="ctr"/>
            <a:r>
              <a:rPr sz="900" b="1" spc="60">
                <a:solidFill>
                  <a:srgbClr val="FFFFFF"/>
                </a:solidFill>
                <a:latin typeface="Consolas"/>
              </a:rPr>
              <a:t>Jan 2024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1773936" y="161848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32B"/>
                </a:solidFill>
                <a:latin typeface="Calibri"/>
              </a:rPr>
              <a:t>Deep Evaluation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1773936" y="196596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25966"/>
                </a:solidFill>
                <a:latin typeface="Calibri"/>
              </a:rPr>
              <a:t>Damaged the actuator during deep eval — no actuation, over-current.</a:t>
            </a:r>
          </a:p>
        </p:txBody>
      </p:sp>
      <p:cxnSp>
        <p:nvCxnSpPr>
          <p:cNvPr id="484" name="Connector 483"/>
          <p:cNvCxnSpPr/>
          <p:nvPr/>
        </p:nvCxnSpPr>
        <p:spPr>
          <a:xfrm>
            <a:off x="3383280" y="4956048"/>
            <a:ext cx="0" cy="621792"/>
          </a:xfrm>
          <a:prstGeom prst="line">
            <a:avLst/>
          </a:prstGeom>
          <a:ln w="33020">
            <a:solidFill>
              <a:srgbClr val="E85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Oval 484"/>
          <p:cNvSpPr/>
          <p:nvPr/>
        </p:nvSpPr>
        <p:spPr>
          <a:xfrm>
            <a:off x="3108960" y="534924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3108960" y="5303520"/>
            <a:ext cx="548640" cy="548640"/>
          </a:xfrm>
          <a:prstGeom prst="ellipse">
            <a:avLst/>
          </a:prstGeom>
          <a:solidFill>
            <a:srgbClr val="E85B4E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TextBox 486"/>
          <p:cNvSpPr txBox="1"/>
          <p:nvPr/>
        </p:nvSpPr>
        <p:spPr>
          <a:xfrm>
            <a:off x="3108960" y="5413248"/>
            <a:ext cx="548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3785615" y="4960620"/>
            <a:ext cx="1188720" cy="237744"/>
          </a:xfrm>
          <a:prstGeom prst="roundRect">
            <a:avLst/>
          </a:prstGeom>
          <a:solidFill>
            <a:srgbClr val="E85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none"/>
          <a:lstStyle/>
          <a:p>
            <a:pPr algn="ctr"/>
            <a:r>
              <a:rPr sz="900" b="1" spc="60">
                <a:solidFill>
                  <a:srgbClr val="FFFFFF"/>
                </a:solidFill>
                <a:latin typeface="Consolas"/>
              </a:rPr>
              <a:t>Apr 2024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3785615" y="525322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32B"/>
                </a:solidFill>
                <a:latin typeface="Calibri"/>
              </a:rPr>
              <a:t>Iteration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3785615" y="560070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25966"/>
                </a:solidFill>
                <a:latin typeface="Calibri"/>
              </a:rPr>
              <a:t>Ordered additional actuators and continued evaluation.</a:t>
            </a:r>
          </a:p>
        </p:txBody>
      </p:sp>
      <p:cxnSp>
        <p:nvCxnSpPr>
          <p:cNvPr id="491" name="Connector 490"/>
          <p:cNvCxnSpPr/>
          <p:nvPr/>
        </p:nvCxnSpPr>
        <p:spPr>
          <a:xfrm flipV="1">
            <a:off x="5394960" y="1920240"/>
            <a:ext cx="0" cy="850392"/>
          </a:xfrm>
          <a:prstGeom prst="line">
            <a:avLst/>
          </a:prstGeom>
          <a:ln w="33020">
            <a:solidFill>
              <a:srgbClr val="6CB8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Oval 491"/>
          <p:cNvSpPr/>
          <p:nvPr/>
        </p:nvSpPr>
        <p:spPr>
          <a:xfrm>
            <a:off x="5120640" y="169164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5120640" y="1645920"/>
            <a:ext cx="548640" cy="548640"/>
          </a:xfrm>
          <a:prstGeom prst="ellipse">
            <a:avLst/>
          </a:prstGeom>
          <a:solidFill>
            <a:srgbClr val="6CB87E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TextBox 493"/>
          <p:cNvSpPr txBox="1"/>
          <p:nvPr/>
        </p:nvSpPr>
        <p:spPr>
          <a:xfrm>
            <a:off x="5120640" y="1755648"/>
            <a:ext cx="548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95" name="Rounded Rectangle 494"/>
          <p:cNvSpPr/>
          <p:nvPr/>
        </p:nvSpPr>
        <p:spPr>
          <a:xfrm>
            <a:off x="5797296" y="1325880"/>
            <a:ext cx="1188720" cy="237744"/>
          </a:xfrm>
          <a:prstGeom prst="roundRect">
            <a:avLst/>
          </a:prstGeom>
          <a:solidFill>
            <a:srgbClr val="6CB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none"/>
          <a:lstStyle/>
          <a:p>
            <a:pPr algn="ctr"/>
            <a:r>
              <a:rPr sz="900" b="1" spc="60">
                <a:solidFill>
                  <a:srgbClr val="FFFFFF"/>
                </a:solidFill>
                <a:latin typeface="Consolas"/>
              </a:rPr>
              <a:t>Aug 2024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5797296" y="161848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32B"/>
                </a:solidFill>
                <a:latin typeface="Calibri"/>
              </a:rPr>
              <a:t>Sankalp · PhD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5797296" y="196596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25966"/>
                </a:solidFill>
                <a:latin typeface="Calibri"/>
              </a:rPr>
              <a:t>Sankalp joined PhD: "SMA actuator design and development for space".</a:t>
            </a:r>
          </a:p>
        </p:txBody>
      </p:sp>
      <p:cxnSp>
        <p:nvCxnSpPr>
          <p:cNvPr id="498" name="Connector 497"/>
          <p:cNvCxnSpPr/>
          <p:nvPr/>
        </p:nvCxnSpPr>
        <p:spPr>
          <a:xfrm>
            <a:off x="7406640" y="4956048"/>
            <a:ext cx="0" cy="621792"/>
          </a:xfrm>
          <a:prstGeom prst="line">
            <a:avLst/>
          </a:prstGeom>
          <a:ln w="33020">
            <a:solidFill>
              <a:srgbClr val="44A8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Oval 498"/>
          <p:cNvSpPr/>
          <p:nvPr/>
        </p:nvSpPr>
        <p:spPr>
          <a:xfrm>
            <a:off x="7132320" y="534924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7132320" y="5303520"/>
            <a:ext cx="548640" cy="548640"/>
          </a:xfrm>
          <a:prstGeom prst="ellipse">
            <a:avLst/>
          </a:prstGeom>
          <a:solidFill>
            <a:srgbClr val="44A8B3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7132320" y="5413248"/>
            <a:ext cx="548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02" name="Rounded Rectangle 501"/>
          <p:cNvSpPr/>
          <p:nvPr/>
        </p:nvSpPr>
        <p:spPr>
          <a:xfrm>
            <a:off x="7808976" y="4960620"/>
            <a:ext cx="1188720" cy="237744"/>
          </a:xfrm>
          <a:prstGeom prst="roundRect">
            <a:avLst/>
          </a:prstGeom>
          <a:solidFill>
            <a:srgbClr val="44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none"/>
          <a:lstStyle/>
          <a:p>
            <a:pPr algn="ctr"/>
            <a:r>
              <a:rPr sz="900" b="1" spc="60">
                <a:solidFill>
                  <a:srgbClr val="FFFFFF"/>
                </a:solidFill>
                <a:latin typeface="Consolas"/>
              </a:rPr>
              <a:t>Sept 2025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7808976" y="525322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32B"/>
                </a:solidFill>
                <a:latin typeface="Calibri"/>
              </a:rPr>
              <a:t>Kushagra · Robotics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7808976" y="560070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25966"/>
                </a:solidFill>
                <a:latin typeface="Calibri"/>
              </a:rPr>
              <a:t>Kushagra worked with a space-robotics startup using super-elastic Nitinol.</a:t>
            </a:r>
          </a:p>
        </p:txBody>
      </p:sp>
      <p:cxnSp>
        <p:nvCxnSpPr>
          <p:cNvPr id="505" name="Connector 504"/>
          <p:cNvCxnSpPr/>
          <p:nvPr/>
        </p:nvCxnSpPr>
        <p:spPr>
          <a:xfrm flipV="1">
            <a:off x="9418320" y="1920240"/>
            <a:ext cx="0" cy="850392"/>
          </a:xfrm>
          <a:prstGeom prst="line">
            <a:avLst/>
          </a:prstGeom>
          <a:ln w="33020">
            <a:solidFill>
              <a:srgbClr val="5C9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Oval 505"/>
          <p:cNvSpPr/>
          <p:nvPr/>
        </p:nvSpPr>
        <p:spPr>
          <a:xfrm>
            <a:off x="9144000" y="169164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9144000" y="1645920"/>
            <a:ext cx="548640" cy="548640"/>
          </a:xfrm>
          <a:prstGeom prst="ellipse">
            <a:avLst/>
          </a:prstGeom>
          <a:solidFill>
            <a:srgbClr val="5C96CA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TextBox 507"/>
          <p:cNvSpPr txBox="1"/>
          <p:nvPr/>
        </p:nvSpPr>
        <p:spPr>
          <a:xfrm>
            <a:off x="9144000" y="1755648"/>
            <a:ext cx="548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09" name="Rounded Rectangle 508"/>
          <p:cNvSpPr/>
          <p:nvPr/>
        </p:nvSpPr>
        <p:spPr>
          <a:xfrm>
            <a:off x="9820656" y="1325880"/>
            <a:ext cx="1188720" cy="237744"/>
          </a:xfrm>
          <a:prstGeom prst="roundRect">
            <a:avLst/>
          </a:prstGeom>
          <a:solidFill>
            <a:srgbClr val="5C9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none"/>
          <a:lstStyle/>
          <a:p>
            <a:pPr algn="ctr"/>
            <a:r>
              <a:rPr sz="900" b="1" spc="60">
                <a:solidFill>
                  <a:srgbClr val="FFFFFF"/>
                </a:solidFill>
                <a:latin typeface="Consolas"/>
              </a:rPr>
              <a:t>May 2026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9820656" y="161848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32B"/>
                </a:solidFill>
                <a:latin typeface="Calibri"/>
              </a:rPr>
              <a:t>Amorphis Founded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9820656" y="196596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25966"/>
                </a:solidFill>
                <a:latin typeface="Calibri"/>
              </a:rPr>
              <a:t>Amorphis established for sector-agnostic SMA actuators.</a:t>
            </a:r>
          </a:p>
        </p:txBody>
      </p:sp>
      <p:cxnSp>
        <p:nvCxnSpPr>
          <p:cNvPr id="512" name="Connector 511"/>
          <p:cNvCxnSpPr/>
          <p:nvPr/>
        </p:nvCxnSpPr>
        <p:spPr>
          <a:xfrm>
            <a:off x="11430000" y="4956048"/>
            <a:ext cx="0" cy="621792"/>
          </a:xfrm>
          <a:prstGeom prst="line">
            <a:avLst/>
          </a:prstGeom>
          <a:ln w="33020">
            <a:solidFill>
              <a:srgbClr val="3C4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Oval 512"/>
          <p:cNvSpPr/>
          <p:nvPr/>
        </p:nvSpPr>
        <p:spPr>
          <a:xfrm>
            <a:off x="11155680" y="534924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11155680" y="5303520"/>
            <a:ext cx="548640" cy="548640"/>
          </a:xfrm>
          <a:prstGeom prst="ellipse">
            <a:avLst/>
          </a:prstGeom>
          <a:solidFill>
            <a:srgbClr val="3C4E7A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TextBox 514"/>
          <p:cNvSpPr txBox="1"/>
          <p:nvPr/>
        </p:nvSpPr>
        <p:spPr>
          <a:xfrm>
            <a:off x="11155680" y="5413248"/>
            <a:ext cx="548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16" name="Rounded Rectangle 515"/>
          <p:cNvSpPr/>
          <p:nvPr/>
        </p:nvSpPr>
        <p:spPr>
          <a:xfrm>
            <a:off x="9838943" y="4960620"/>
            <a:ext cx="1188720" cy="237744"/>
          </a:xfrm>
          <a:prstGeom prst="roundRect">
            <a:avLst/>
          </a:prstGeom>
          <a:solidFill>
            <a:srgbClr val="3C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none"/>
          <a:lstStyle/>
          <a:p>
            <a:pPr algn="ctr"/>
            <a:r>
              <a:rPr sz="900" b="1" spc="60">
                <a:solidFill>
                  <a:srgbClr val="FFFFFF"/>
                </a:solidFill>
                <a:latin typeface="Consolas"/>
              </a:rPr>
              <a:t>May 2027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9427463" y="525322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1F232B"/>
                </a:solidFill>
                <a:latin typeface="Calibri"/>
              </a:rPr>
              <a:t>Market Release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9427463" y="5600700"/>
            <a:ext cx="1600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525966"/>
                </a:solidFill>
                <a:latin typeface="Calibri"/>
              </a:rPr>
              <a:t>First indigenous SMA actuator — market release.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500">
                <a:solidFill>
                  <a:srgbClr val="8B93A1"/>
                </a:solidFill>
                <a:latin typeface="Consolas"/>
              </a:rPr>
              <a:t>AMORPHIS · INDIA'S FIRST SPACE-GRADE SMA ACTUATOR COMPANY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686800" y="65836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500">
                <a:solidFill>
                  <a:srgbClr val="8B93A1"/>
                </a:solidFill>
                <a:latin typeface="Consolas"/>
              </a:rPr>
              <a:t>PART 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